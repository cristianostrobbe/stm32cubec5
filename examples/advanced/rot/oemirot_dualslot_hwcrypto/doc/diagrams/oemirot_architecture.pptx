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Vocabulary slide. Do not read it out - put it up, say it stays available, and come back to it whenever someone asks what a term means.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frame for everything else: an immutable first stage that checks the second one, then hides itself. Nothing the application does can reach back into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Signing and encryption answer different questions. Note the two weak points we own: a single key pair with no revocation path, and a decryption key sitting raw in flash.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 'when is it decrypted'. The headline: twice, both inside the bootloader, both during one install, never afterwards. The 'why twice' box is the part people ask about - verification must finish before installation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offsets from flash_layout.h. The headline number is 464 KB usable out of 1 MB - that is the price of the second slot, and it drives most of the later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point: the bootloader never downloads anything. All transport code lives in the replaceable application, so the immutable part stays small and offline.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runs on every reset, not just on update. Three independent rejection paths, and the primary slot is re-verified even when no update is pending.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the board does today. Walk the five states, then land on the red box: a signed image that crashes takes the update path down with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 the question the previous slide always provokes: why a separate 'request install' step at all. The short version: the two stages cannot talk, so the only channel is a mark in flash - and that mark also proves the download completed.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same flow plus one confirmation flag. Worth stressing: the confirm code already exists in our application, compiled out by OVERWRITE_ONLY.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Attractive on paper - instant install. Be honest about the open question: SWAP_BANK moves the bootloader too, and nothing in our repo implements this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cost side of bank swap. Immutable things mirror harmlessly; runtime-written state (counters, calibration) does not - for the anti-rollback counter that is a security hole. And the doubled RoT leaves ~40 KB LESS for the application than dual-slot swap.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arrangements side by side. The closing question is the one that actually picks a column; everything else follows from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Detail view of the same trade-offs. The status row separates what we have from what we would have to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argument in one table. Four failures are handled identically - only the last row separates overwrite from swap.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Proposed order for the decision. Questions 5 and 6 are irreversible once devices are provisioned, so they need an answer before anything 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FAQ. The magic trailer is a completion flag, not a trust signal - and the app writes the image encrypted because it has no access to the key. Keep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FAQ. Calibration data must sit outside the slots; mirroring inside them does not work. Note the cost: reserving N bytes removes N from each slot.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FAQ. Two corrections worth stressing: swap needs ONE bootloader and no mirroring, and encryption costs the running application nothing.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slide. Do not try to answer these here - the goal is to leave with an owner and a date against each. The key strategy and the lock-down level are the two that cannot be revisited after provisioning.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491435"/>
            <a:ext cx="9581083" cy="693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3120" b="1">
                <a:solidFill>
                  <a:srgbClr val="FFFFFF"/>
                </a:solidFill>
                <a:latin typeface="Segoe UI"/>
              </a:rPr>
              <a:t>Secure boot and firmware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3119628"/>
            <a:ext cx="7077456" cy="4000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0">
                <a:solidFill>
                  <a:srgbClr val="3CB4E6"/>
                </a:solidFill>
                <a:latin typeface="Segoe UI"/>
              </a:rPr>
              <a:t>Architecture options for OEMiRoT on STM32C5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3555644"/>
            <a:ext cx="4378147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0">
                <a:solidFill>
                  <a:srgbClr val="FFFFFF"/>
                </a:solidFill>
                <a:latin typeface="Segoe UI"/>
              </a:rPr>
              <a:t>based on example_oemirot_dualslot_hwcrypto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6323990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The vocabulary, in one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7834579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Every term this deck uses. Worth leaving on screen during questions.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7680" y="1356360"/>
            <a:ext cx="3596640" cy="499872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18288">
            <a:solidFill>
              <a:srgbClr val="032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87680" y="1356360"/>
            <a:ext cx="3596640" cy="396240"/>
          </a:xfrm>
          <a:prstGeom prst="roundRect">
            <a:avLst>
              <a:gd name="adj" fmla="val 30769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87680" y="1584960"/>
            <a:ext cx="3596640" cy="167640"/>
          </a:xfrm>
          <a:prstGeom prst="roundRect">
            <a:avLst>
              <a:gd name="adj" fmla="val 50000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51076" y="1475537"/>
            <a:ext cx="1069848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Segoe UI"/>
              </a:rPr>
              <a:t>THE PIECES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320" y="1871777"/>
            <a:ext cx="320954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03234B"/>
                </a:solidFill>
                <a:latin typeface="Segoe UI"/>
              </a:rPr>
              <a:t>RoT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20" y="2077974"/>
            <a:ext cx="3785616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Root of Trust — the small immutable bootloader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20" y="2237994"/>
            <a:ext cx="345643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that runs first and checks everything else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320" y="2496617"/>
            <a:ext cx="534924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03234B"/>
                </a:solidFill>
                <a:latin typeface="Segoe UI"/>
              </a:rPr>
              <a:t>Image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320" y="2702814"/>
            <a:ext cx="386791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firmware + a header + metadata. Not a bare .bin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20" y="2961437"/>
            <a:ext cx="427939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03234B"/>
                </a:solidFill>
                <a:latin typeface="Segoe UI"/>
              </a:rPr>
              <a:t>Slot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20" y="3167634"/>
            <a:ext cx="3785616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a flash region sized to hold exactly one image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20" y="3426257"/>
            <a:ext cx="320954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03234B"/>
                </a:solidFill>
                <a:latin typeface="Segoe UI"/>
              </a:rPr>
              <a:t>TLV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20" y="3632454"/>
            <a:ext cx="3785616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Tag-Length-Value — the variable-length records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20" y="3792474"/>
            <a:ext cx="370332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appended after the firmware: hash, signature,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20" y="3952494"/>
            <a:ext cx="1728216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version, dependencies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20" y="4211117"/>
            <a:ext cx="1390802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03234B"/>
                </a:solidFill>
                <a:latin typeface="Segoe UI"/>
              </a:rPr>
              <a:t>Magic trailer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20" y="4417314"/>
            <a:ext cx="3950208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16 bytes at the end of the download slot meaning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320" y="4577334"/>
            <a:ext cx="181051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"a candidate is ready"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320" y="4835957"/>
            <a:ext cx="1283818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03234B"/>
                </a:solidFill>
                <a:latin typeface="Segoe UI"/>
              </a:rPr>
              <a:t>Confirm flag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320" y="5042154"/>
            <a:ext cx="403250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the new firmware's "I booted, keep me" mark (swap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320" y="5202174"/>
            <a:ext cx="82296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mode only)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1356360"/>
            <a:ext cx="3596640" cy="499872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18288">
            <a:solidFill>
              <a:srgbClr val="6B5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297680" y="1356360"/>
            <a:ext cx="3596640" cy="396240"/>
          </a:xfrm>
          <a:prstGeom prst="roundRect">
            <a:avLst>
              <a:gd name="adj" fmla="val 30769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297680" y="1584960"/>
            <a:ext cx="3596640" cy="167640"/>
          </a:xfrm>
          <a:prstGeom prst="roundRect">
            <a:avLst>
              <a:gd name="adj" fmla="val 50000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93614" y="1475537"/>
            <a:ext cx="1604772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Segoe UI"/>
              </a:rPr>
              <a:t>THE PROTECTIONS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65320" y="1871777"/>
            <a:ext cx="304800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6B5BD2"/>
                </a:solidFill>
                <a:latin typeface="Segoe UI"/>
              </a:rPr>
              <a:t>OB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5320" y="2077974"/>
            <a:ext cx="3950208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Option Bytes — chip configuration stored outside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65320" y="2237994"/>
            <a:ext cx="411480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the firmware: boot address, protections, lock bits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65320" y="2496617"/>
            <a:ext cx="320954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6B5BD2"/>
                </a:solidFill>
                <a:latin typeface="Segoe UI"/>
              </a:rPr>
              <a:t>WRP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65320" y="2702814"/>
            <a:ext cx="370332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Write Protection — flash pages that cannot be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5320" y="2862834"/>
            <a:ext cx="345643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erased or written. Makes the RoT immutable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65320" y="3121457"/>
            <a:ext cx="320954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6B5BD2"/>
                </a:solidFill>
                <a:latin typeface="Segoe UI"/>
              </a:rPr>
              <a:t>HDP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65320" y="3327654"/>
            <a:ext cx="386791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Hide Protection — a region that disappears from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65320" y="3487674"/>
            <a:ext cx="3127248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the memory map once the RoT hands over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65320" y="3746297"/>
            <a:ext cx="320954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6B5BD2"/>
                </a:solidFill>
                <a:latin typeface="Segoe UI"/>
              </a:rPr>
              <a:t>RDP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65320" y="3952494"/>
            <a:ext cx="386791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Readout Protection — how much a debug probe may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65320" y="4112514"/>
            <a:ext cx="370332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see. 0 = everything, 2 = nothing, permanently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65320" y="4371137"/>
            <a:ext cx="320954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6B5BD2"/>
                </a:solidFill>
                <a:latin typeface="Segoe UI"/>
              </a:rPr>
              <a:t>MPU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65320" y="4577334"/>
            <a:ext cx="3950208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Memory Protection Unit — the CPU's runtime rules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65320" y="4737354"/>
            <a:ext cx="329184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on what may be read, written or executed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65320" y="4995977"/>
            <a:ext cx="1069848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6B5BD2"/>
                </a:solidFill>
                <a:latin typeface="Segoe UI"/>
              </a:rPr>
              <a:t>NV counter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65320" y="5202174"/>
            <a:ext cx="403250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a non-volatile counter that only ever increases 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65320" y="5362194"/>
            <a:ext cx="1892808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the anti-rollback floor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07680" y="1356360"/>
            <a:ext cx="3596640" cy="499872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107680" y="1356360"/>
            <a:ext cx="3596640" cy="396240"/>
          </a:xfrm>
          <a:prstGeom prst="roundRect">
            <a:avLst>
              <a:gd name="adj" fmla="val 30769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107680" y="1584960"/>
            <a:ext cx="3596640" cy="167640"/>
          </a:xfrm>
          <a:prstGeom prst="roundRect">
            <a:avLst>
              <a:gd name="adj" fmla="val 50000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50122" y="1475537"/>
            <a:ext cx="1711757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Segoe UI"/>
              </a:rPr>
              <a:t>THE CRYPTOGRAPHY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75320" y="1871777"/>
            <a:ext cx="748894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12A05C"/>
                </a:solidFill>
                <a:latin typeface="Segoe UI"/>
              </a:rPr>
              <a:t>SHA-256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5320" y="2077974"/>
            <a:ext cx="3538728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the hash — a short fingerprint of the image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75320" y="2336597"/>
            <a:ext cx="1176833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12A05C"/>
                </a:solidFill>
                <a:latin typeface="Segoe UI"/>
              </a:rPr>
              <a:t>ECDSA P-256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75320" y="2542794"/>
            <a:ext cx="403250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the signature scheme — proves the image came from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75320" y="2702814"/>
            <a:ext cx="238658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whoever holds the private key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75320" y="2961437"/>
            <a:ext cx="1176833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12A05C"/>
                </a:solidFill>
                <a:latin typeface="Segoe UI"/>
              </a:rPr>
              <a:t>AES-128-CTR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75320" y="3167634"/>
            <a:ext cx="304495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the cipher that scrambles the payload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75320" y="3426257"/>
            <a:ext cx="534924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12A05C"/>
                </a:solidFill>
                <a:latin typeface="Segoe UI"/>
              </a:rPr>
              <a:t>ECIES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75320" y="3632454"/>
            <a:ext cx="362102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how the AES key is wrapped so that only this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75320" y="3792474"/>
            <a:ext cx="164592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device can unwrap it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75320" y="4051097"/>
            <a:ext cx="1818742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12A05C"/>
                </a:solidFill>
                <a:latin typeface="Segoe UI"/>
              </a:rPr>
              <a:t>PKA · SAES · HASH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75320" y="4257294"/>
            <a:ext cx="370332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the hardware engines that run the three above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75320" y="4515917"/>
            <a:ext cx="320954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12A05C"/>
                </a:solidFill>
                <a:latin typeface="Segoe UI"/>
              </a:rPr>
              <a:t>XIP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75320" y="4722114"/>
            <a:ext cx="411480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eXecute In Place — the CPU runs code straight from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75320" y="4882134"/>
            <a:ext cx="2139696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flash, with no copy to RAM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75320" y="5140757"/>
            <a:ext cx="641909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12A05C"/>
                </a:solidFill>
                <a:latin typeface="Segoe UI"/>
              </a:rPr>
              <a:t>YModem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75320" y="5346954"/>
            <a:ext cx="3785616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the serial file-transfer protocol used here to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75320" y="5506974"/>
            <a:ext cx="238658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move an image onto the device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75320" y="5765597"/>
            <a:ext cx="320954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12A05C"/>
                </a:solidFill>
                <a:latin typeface="Segoe UI"/>
              </a:rPr>
              <a:t>TPC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75320" y="5971794"/>
            <a:ext cx="3950208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STM32TrustedPackageCreator — the tool that signs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75320" y="6131814"/>
            <a:ext cx="181051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and encrypts the image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13099694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Secure boot: two stages, one door that only opens forwards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10023653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OEMiRoT verifies the application on every reset — then hides itself before handing over</a:t>
            </a:r>
          </a:p>
        </p:txBody>
      </p:sp>
      <p:sp>
        <p:nvSpPr>
          <p:cNvPr id="4" name="Oval 3"/>
          <p:cNvSpPr/>
          <p:nvPr/>
        </p:nvSpPr>
        <p:spPr>
          <a:xfrm>
            <a:off x="502920" y="1920240"/>
            <a:ext cx="670560" cy="670560"/>
          </a:xfrm>
          <a:prstGeom prst="ellipse">
            <a:avLst/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5597" y="2062429"/>
            <a:ext cx="505206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Segoe UI"/>
              </a:rPr>
              <a:t>RESET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7766" y="2261159"/>
            <a:ext cx="540868" cy="17335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780" b="1">
                <a:solidFill>
                  <a:srgbClr val="3CB4E6"/>
                </a:solidFill>
                <a:latin typeface="Segoe UI"/>
              </a:rPr>
              <a:t>BOOTADD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203960" y="2255520"/>
            <a:ext cx="457200" cy="0"/>
          </a:xfrm>
          <a:prstGeom prst="line">
            <a:avLst/>
          </a:prstGeom>
          <a:ln w="22860">
            <a:solidFill>
              <a:srgbClr val="0323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737360" y="1524000"/>
            <a:ext cx="5334000" cy="2286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2860">
            <a:solidFill>
              <a:srgbClr val="032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37360" y="1524000"/>
            <a:ext cx="5334000" cy="441960"/>
          </a:xfrm>
          <a:prstGeom prst="roundRect">
            <a:avLst>
              <a:gd name="adj" fmla="val 27586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37360" y="1828800"/>
            <a:ext cx="5334000" cy="137160"/>
          </a:xfrm>
          <a:prstGeom prst="rect">
            <a:avLst/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65402" y="1627022"/>
            <a:ext cx="5277917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40" b="1">
                <a:solidFill>
                  <a:srgbClr val="FFFFFF"/>
                </a:solidFill>
                <a:latin typeface="Segoe UI"/>
              </a:rPr>
              <a:t>OEMiRoT   —   immutable root of trust</a:t>
            </a:r>
          </a:p>
        </p:txBody>
      </p:sp>
      <p:sp>
        <p:nvSpPr>
          <p:cNvPr id="12" name="Oval 11"/>
          <p:cNvSpPr/>
          <p:nvPr/>
        </p:nvSpPr>
        <p:spPr>
          <a:xfrm>
            <a:off x="1912620" y="2141220"/>
            <a:ext cx="259080" cy="259080"/>
          </a:xfrm>
          <a:prstGeom prst="ellipse">
            <a:avLst/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89760" y="216469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70760" y="2077212"/>
            <a:ext cx="2020824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Apply protections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0760" y="2275942"/>
            <a:ext cx="2370125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MPU · tamper · ECC · caches</a:t>
            </a:r>
          </a:p>
        </p:txBody>
      </p:sp>
      <p:sp>
        <p:nvSpPr>
          <p:cNvPr id="16" name="Oval 15"/>
          <p:cNvSpPr/>
          <p:nvPr/>
        </p:nvSpPr>
        <p:spPr>
          <a:xfrm>
            <a:off x="1912620" y="2560320"/>
            <a:ext cx="259080" cy="259080"/>
          </a:xfrm>
          <a:prstGeom prst="ellipse">
            <a:avLst/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89760" y="258379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70760" y="2496312"/>
            <a:ext cx="2139696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Check option bytes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70760" y="2695042"/>
            <a:ext cx="3247949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BOOTADD · BOOT_LOCK · WRP · HDP · RDP</a:t>
            </a:r>
          </a:p>
        </p:txBody>
      </p:sp>
      <p:sp>
        <p:nvSpPr>
          <p:cNvPr id="20" name="Oval 19"/>
          <p:cNvSpPr/>
          <p:nvPr/>
        </p:nvSpPr>
        <p:spPr>
          <a:xfrm>
            <a:off x="1912620" y="2979420"/>
            <a:ext cx="259080" cy="259080"/>
          </a:xfrm>
          <a:prstGeom prst="ellipse">
            <a:avLst/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89760" y="300289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70760" y="2915412"/>
            <a:ext cx="2615184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Verify the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70760" y="3114142"/>
            <a:ext cx="482803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SHA-256 + ECDSA P-256, twice (fault-injection hardened)</a:t>
            </a:r>
          </a:p>
        </p:txBody>
      </p:sp>
      <p:sp>
        <p:nvSpPr>
          <p:cNvPr id="24" name="Oval 23"/>
          <p:cNvSpPr/>
          <p:nvPr/>
        </p:nvSpPr>
        <p:spPr>
          <a:xfrm>
            <a:off x="1912620" y="3398520"/>
            <a:ext cx="259080" cy="259080"/>
          </a:xfrm>
          <a:prstGeom prst="ellipse">
            <a:avLst/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89760" y="342199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70760" y="3334512"/>
            <a:ext cx="1664208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Close the door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70760" y="3533242"/>
            <a:ext cx="4037990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shrink MPU · close HDP · disable crypto clocks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147560" y="2667000"/>
            <a:ext cx="533400" cy="0"/>
          </a:xfrm>
          <a:prstGeom prst="line">
            <a:avLst/>
          </a:prstGeom>
          <a:ln w="26670">
            <a:solidFill>
              <a:srgbClr val="12A0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033870" y="2405482"/>
            <a:ext cx="760781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2A05C"/>
                </a:solidFill>
                <a:latin typeface="Segoe UI"/>
              </a:rPr>
              <a:t>verified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4065" y="2786482"/>
            <a:ext cx="380390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2A05C"/>
                </a:solidFill>
                <a:latin typeface="Segoe UI"/>
              </a:rPr>
              <a:t>jump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57160" y="1981200"/>
            <a:ext cx="2286000" cy="1371600"/>
          </a:xfrm>
          <a:prstGeom prst="roundRect">
            <a:avLst>
              <a:gd name="adj" fmla="val 8888"/>
            </a:avLst>
          </a:prstGeom>
          <a:solidFill>
            <a:srgbClr val="E2F5EC"/>
          </a:solidFill>
          <a:ln w="22860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82915" y="2183130"/>
            <a:ext cx="1634490" cy="3333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500" b="1">
                <a:solidFill>
                  <a:srgbClr val="03234B"/>
                </a:solidFill>
                <a:latin typeface="Segoe UI"/>
              </a:rPr>
              <a:t>APPLICATION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5518" y="2488844"/>
            <a:ext cx="1129284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12A05C"/>
                </a:solidFill>
                <a:latin typeface="Consolas"/>
              </a:rPr>
              <a:t>0x08018400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60741" y="2778709"/>
            <a:ext cx="167883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0">
                <a:solidFill>
                  <a:srgbClr val="5B6B80"/>
                </a:solidFill>
                <a:latin typeface="Segoe UI"/>
              </a:rPr>
              <a:t>updatable firmware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80934" y="2976829"/>
            <a:ext cx="2238451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0">
                <a:solidFill>
                  <a:srgbClr val="5B6B80"/>
                </a:solidFill>
                <a:latin typeface="Segoe UI"/>
              </a:rPr>
              <a:t>carries the update agent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737360" y="4312920"/>
            <a:ext cx="8305800" cy="594360"/>
          </a:xfrm>
          <a:prstGeom prst="roundRect">
            <a:avLst>
              <a:gd name="adj" fmla="val 17948"/>
            </a:avLst>
          </a:prstGeom>
          <a:solidFill>
            <a:srgbClr val="ECE9FB"/>
          </a:solidFill>
          <a:ln w="15240">
            <a:solidFill>
              <a:srgbClr val="6B5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5960" y="4431944"/>
            <a:ext cx="7792060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03234B"/>
                </a:solidFill>
                <a:latin typeface="Segoe UI"/>
              </a:rPr>
              <a:t>After the jump the RoT code and the keys are GONE from the map (HDP).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65960" y="4660849"/>
            <a:ext cx="1100571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The application cannot read them, cannot call back, and cannot modify the boot stage. Only a reset returns to the RoT.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737360" y="5227320"/>
            <a:ext cx="2900172" cy="274320"/>
          </a:xfrm>
          <a:prstGeom prst="roundRect">
            <a:avLst>
              <a:gd name="adj" fmla="val 50000"/>
            </a:avLst>
          </a:prstGeom>
          <a:solidFill>
            <a:srgbClr val="EFF3F7"/>
          </a:solidFill>
          <a:ln w="12192">
            <a:solidFill>
              <a:srgbClr val="032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520266" y="5278984"/>
            <a:ext cx="333436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03234B"/>
                </a:solidFill>
                <a:latin typeface="Segoe UI"/>
              </a:rPr>
              <a:t>Immutable — write-protected (WRP)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759452" y="5227320"/>
            <a:ext cx="2122932" cy="274320"/>
          </a:xfrm>
          <a:prstGeom prst="roundRect">
            <a:avLst>
              <a:gd name="adj" fmla="val 50000"/>
            </a:avLst>
          </a:prstGeom>
          <a:solidFill>
            <a:srgbClr val="ECE9FB"/>
          </a:solidFill>
          <a:ln w="12192">
            <a:solidFill>
              <a:srgbClr val="6B5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58944" y="5278984"/>
            <a:ext cx="232394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03234B"/>
                </a:solidFill>
                <a:latin typeface="Segoe UI"/>
              </a:rPr>
              <a:t>Hidden after boot (HDP)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004304" y="5227320"/>
            <a:ext cx="2356104" cy="274320"/>
          </a:xfrm>
          <a:prstGeom prst="roundRect">
            <a:avLst>
              <a:gd name="adj" fmla="val 50000"/>
            </a:avLst>
          </a:prstGeom>
          <a:solidFill>
            <a:srgbClr val="E2F5EC"/>
          </a:solidFill>
          <a:ln w="12192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68820" y="5278984"/>
            <a:ext cx="2627071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03234B"/>
                </a:solidFill>
                <a:latin typeface="Segoe UI"/>
              </a:rPr>
              <a:t>Re-verified on every reset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7680" y="6039764"/>
            <a:ext cx="8469630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D0323C"/>
                </a:solidFill>
                <a:latin typeface="Segoe UI"/>
              </a:rPr>
              <a:t>Any failed check ends at Error_Handler — the application simply never runs.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9485986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How the device knows the firmware is yours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10830154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Signing proves who made it · encryption stops anyone reading it · they are independent choices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80" y="1215847"/>
            <a:ext cx="3268980" cy="29337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20" b="1">
                <a:solidFill>
                  <a:srgbClr val="03234B"/>
                </a:solidFill>
                <a:latin typeface="Segoe UI"/>
              </a:rPr>
              <a:t>What an image actually 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7680" y="1524000"/>
            <a:ext cx="1447800" cy="701040"/>
          </a:xfrm>
          <a:prstGeom prst="roundRect">
            <a:avLst>
              <a:gd name="adj" fmla="val 10869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2795" y="1681124"/>
            <a:ext cx="677570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FFFFFF"/>
                </a:solidFill>
                <a:latin typeface="Segoe UI"/>
              </a:rPr>
              <a:t>HEADER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910334"/>
            <a:ext cx="41148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Segoe UI"/>
              </a:rPr>
              <a:t>0x400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1524000"/>
            <a:ext cx="5867400" cy="701040"/>
          </a:xfrm>
          <a:prstGeom prst="roundRect">
            <a:avLst>
              <a:gd name="adj" fmla="val 10869"/>
            </a:avLst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85489" y="1681124"/>
            <a:ext cx="1919783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FFFFFF"/>
                </a:solidFill>
                <a:latin typeface="Segoe UI"/>
              </a:rPr>
              <a:t>ENCRYPTED PAYLOAD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10456" y="1910334"/>
            <a:ext cx="1069848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Segoe UI"/>
              </a:rPr>
              <a:t>your firmware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1524000"/>
            <a:ext cx="3124200" cy="701040"/>
          </a:xfrm>
          <a:prstGeom prst="roundRect">
            <a:avLst>
              <a:gd name="adj" fmla="val 10869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91523" y="1681124"/>
            <a:ext cx="451714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FFFFFF"/>
                </a:solidFill>
                <a:latin typeface="Segoe UI"/>
              </a:rPr>
              <a:t>TLVs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0312" y="1910334"/>
            <a:ext cx="3374136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Segoe UI"/>
              </a:rPr>
              <a:t>hash · signature · version · dependencies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7680" y="2621280"/>
            <a:ext cx="5334000" cy="2286000"/>
          </a:xfrm>
          <a:prstGeom prst="roundRect">
            <a:avLst>
              <a:gd name="adj" fmla="val 5333"/>
            </a:avLst>
          </a:prstGeom>
          <a:solidFill>
            <a:srgbClr val="ECE9FB"/>
          </a:solidFill>
          <a:ln w="18288">
            <a:solidFill>
              <a:srgbClr val="6B5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20190" y="2709367"/>
            <a:ext cx="3268980" cy="29337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20" b="1">
                <a:solidFill>
                  <a:srgbClr val="03234B"/>
                </a:solidFill>
                <a:latin typeface="Segoe UI"/>
              </a:rPr>
              <a:t>IN THE FACTORY  (offline)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25396" y="2923032"/>
            <a:ext cx="2258568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6B5BD2"/>
                </a:solidFill>
                <a:latin typeface="Segoe UI"/>
              </a:rPr>
              <a:t>signing PRIVATE key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902" y="3182722"/>
            <a:ext cx="4213555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0">
                <a:solidFill>
                  <a:srgbClr val="5B6B80"/>
                </a:solidFill>
                <a:latin typeface="Segoe UI"/>
              </a:rPr>
              <a:t>never leaves — if it leaks, every device is lost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3489960"/>
            <a:ext cx="4480560" cy="15240"/>
          </a:xfrm>
          <a:prstGeom prst="roundRect">
            <a:avLst>
              <a:gd name="adj" fmla="val 50000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90472" y="3624072"/>
            <a:ext cx="3328416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6B5BD2"/>
                </a:solidFill>
                <a:latin typeface="Segoe UI"/>
              </a:rPr>
              <a:t>encryption key (ECIES P-256)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2379" y="3883762"/>
            <a:ext cx="298460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0">
                <a:solidFill>
                  <a:srgbClr val="5B6B80"/>
                </a:solidFill>
                <a:latin typeface="Segoe UI"/>
              </a:rPr>
              <a:t>scrambles the payload with AES-128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4377" y="4363669"/>
            <a:ext cx="3940607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D0323C"/>
                </a:solidFill>
                <a:latin typeface="Segoe UI"/>
              </a:rPr>
              <a:t>one key pair today — no revocation path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577334"/>
            <a:ext cx="493776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D0323C"/>
                </a:solidFill>
                <a:latin typeface="Segoe UI"/>
              </a:rPr>
              <a:t>and the bootloader is immutable, so it cannot be added later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70320" y="2621280"/>
            <a:ext cx="5334000" cy="2286000"/>
          </a:xfrm>
          <a:prstGeom prst="roundRect">
            <a:avLst>
              <a:gd name="adj" fmla="val 5333"/>
            </a:avLst>
          </a:prstGeom>
          <a:solidFill>
            <a:srgbClr val="E2F5EC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516" y="2709367"/>
            <a:ext cx="5099609" cy="29337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20" b="1">
                <a:solidFill>
                  <a:srgbClr val="03234B"/>
                </a:solidFill>
                <a:latin typeface="Segoe UI"/>
              </a:rPr>
              <a:t>ON THE DEVICE  (0x12000, hidden by HDP)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78752" y="2923032"/>
            <a:ext cx="4517136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12A05C"/>
                </a:solidFill>
                <a:latin typeface="Segoe UI"/>
              </a:rPr>
              <a:t>SHA-256 of the public key   (32 bytes)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610" y="3182722"/>
            <a:ext cx="5881421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0">
                <a:solidFill>
                  <a:srgbClr val="5B6B80"/>
                </a:solidFill>
                <a:latin typeface="Segoe UI"/>
              </a:rPr>
              <a:t>not the key itself — the image carries that, and the hash proves 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97040" y="3489960"/>
            <a:ext cx="4480560" cy="15240"/>
          </a:xfrm>
          <a:prstGeom prst="roundRect">
            <a:avLst>
              <a:gd name="adj" fmla="val 50000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3676" y="3624072"/>
            <a:ext cx="3447288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E08A1E"/>
                </a:solidFill>
                <a:latin typeface="Segoe UI"/>
              </a:rPr>
              <a:t>decryption key — raw in flash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3890" y="3883762"/>
            <a:ext cx="3686861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0">
                <a:solidFill>
                  <a:srgbClr val="5B6B80"/>
                </a:solidFill>
                <a:latin typeface="Segoe UI"/>
              </a:rPr>
              <a:t>readable by anyone who defeats RDP and HDP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3893" y="4363669"/>
            <a:ext cx="4546854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E08A1E"/>
                </a:solidFill>
                <a:latin typeface="Segoe UI"/>
              </a:rPr>
              <a:t>stronger option: keep it inside SAES hardware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1068" y="4577334"/>
            <a:ext cx="403250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so the usable key never exists in readable memory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97584" y="4958029"/>
            <a:ext cx="9396832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B7CA8"/>
                </a:solidFill>
                <a:latin typeface="Segoe UI"/>
              </a:rPr>
              <a:t>When the decryption actually happens — twice, both inside the bootloader — is the next slide.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821680" y="3581400"/>
            <a:ext cx="41771" cy="0"/>
          </a:xfrm>
          <a:prstGeom prst="line">
            <a:avLst/>
          </a:prstGeom>
          <a:ln w="22860">
            <a:solidFill>
              <a:srgbClr val="0323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863451" y="3581400"/>
            <a:ext cx="40472" cy="0"/>
          </a:xfrm>
          <a:prstGeom prst="line">
            <a:avLst/>
          </a:prstGeom>
          <a:ln w="22860">
            <a:solidFill>
              <a:srgbClr val="0323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903923" y="3581400"/>
            <a:ext cx="39272" cy="0"/>
          </a:xfrm>
          <a:prstGeom prst="line">
            <a:avLst/>
          </a:prstGeom>
          <a:ln w="22860">
            <a:solidFill>
              <a:srgbClr val="0323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943195" y="3581400"/>
            <a:ext cx="38172" cy="0"/>
          </a:xfrm>
          <a:prstGeom prst="line">
            <a:avLst/>
          </a:prstGeom>
          <a:ln w="22860">
            <a:solidFill>
              <a:srgbClr val="0323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981367" y="3581400"/>
            <a:ext cx="37172" cy="0"/>
          </a:xfrm>
          <a:prstGeom prst="line">
            <a:avLst/>
          </a:prstGeom>
          <a:ln w="22860">
            <a:solidFill>
              <a:srgbClr val="0323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018539" y="3581400"/>
            <a:ext cx="36273" cy="0"/>
          </a:xfrm>
          <a:prstGeom prst="line">
            <a:avLst/>
          </a:prstGeom>
          <a:ln w="22860">
            <a:solidFill>
              <a:srgbClr val="0323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054812" y="3581400"/>
            <a:ext cx="35473" cy="0"/>
          </a:xfrm>
          <a:prstGeom prst="line">
            <a:avLst/>
          </a:prstGeom>
          <a:ln w="22860">
            <a:solidFill>
              <a:srgbClr val="0323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090285" y="3581400"/>
            <a:ext cx="34773" cy="0"/>
          </a:xfrm>
          <a:prstGeom prst="line">
            <a:avLst/>
          </a:prstGeom>
          <a:ln w="22860">
            <a:solidFill>
              <a:srgbClr val="0323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125058" y="3581400"/>
            <a:ext cx="34174" cy="0"/>
          </a:xfrm>
          <a:prstGeom prst="line">
            <a:avLst/>
          </a:prstGeom>
          <a:ln w="22860">
            <a:solidFill>
              <a:srgbClr val="0323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159232" y="3581400"/>
            <a:ext cx="33673" cy="0"/>
          </a:xfrm>
          <a:prstGeom prst="line">
            <a:avLst/>
          </a:prstGeom>
          <a:ln w="22860">
            <a:solidFill>
              <a:srgbClr val="0323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192905" y="3581400"/>
            <a:ext cx="33274" cy="0"/>
          </a:xfrm>
          <a:prstGeom prst="line">
            <a:avLst/>
          </a:prstGeom>
          <a:ln w="22860">
            <a:solidFill>
              <a:srgbClr val="0323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6226179" y="3581400"/>
            <a:ext cx="32973" cy="0"/>
          </a:xfrm>
          <a:prstGeom prst="line">
            <a:avLst/>
          </a:prstGeom>
          <a:ln w="22860">
            <a:solidFill>
              <a:srgbClr val="0323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259152" y="3581400"/>
            <a:ext cx="32774" cy="0"/>
          </a:xfrm>
          <a:prstGeom prst="line">
            <a:avLst/>
          </a:prstGeom>
          <a:ln w="22860">
            <a:solidFill>
              <a:srgbClr val="0323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291926" y="3581400"/>
            <a:ext cx="32674" cy="0"/>
          </a:xfrm>
          <a:prstGeom prst="line">
            <a:avLst/>
          </a:prstGeom>
          <a:ln w="22860">
            <a:solidFill>
              <a:srgbClr val="0323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487680" y="5227320"/>
            <a:ext cx="11216640" cy="118872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5240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85800" y="5368900"/>
            <a:ext cx="3494837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1">
                <a:solidFill>
                  <a:srgbClr val="03234B"/>
                </a:solidFill>
                <a:latin typeface="Segoe UI"/>
              </a:rPr>
              <a:t>Two questions people mix up: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88289" y="5821680"/>
            <a:ext cx="50673" cy="50673"/>
          </a:xfrm>
          <a:prstGeom prst="line">
            <a:avLst/>
          </a:prstGeom>
          <a:ln w="28956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838962" y="5763768"/>
            <a:ext cx="86868" cy="108585"/>
          </a:xfrm>
          <a:prstGeom prst="line">
            <a:avLst/>
          </a:prstGeom>
          <a:ln w="28956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066800" y="5727344"/>
            <a:ext cx="9173261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0">
                <a:solidFill>
                  <a:srgbClr val="03234B"/>
                </a:solidFill>
                <a:latin typeface="Segoe UI"/>
              </a:rPr>
              <a:t>"Is this firmware really from us?"  →  SIGNING. Without it, anyone can install anything.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88289" y="6172200"/>
            <a:ext cx="50673" cy="50673"/>
          </a:xfrm>
          <a:prstGeom prst="line">
            <a:avLst/>
          </a:prstGeom>
          <a:ln w="28956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838962" y="6114288"/>
            <a:ext cx="86868" cy="108585"/>
          </a:xfrm>
          <a:prstGeom prst="line">
            <a:avLst/>
          </a:prstGeom>
          <a:ln w="28956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1066800" y="6077864"/>
            <a:ext cx="10736885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0">
                <a:solidFill>
                  <a:srgbClr val="03234B"/>
                </a:solidFill>
                <a:latin typeface="Segoe UI"/>
              </a:rPr>
              <a:t>"Can a competitor read our firmware?"  →  ENCRYPTION. Optional — drop it and one key leaves the device.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8130845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When exactly is the image decrypted?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967801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Twice — both times inside the bootloader, both during one install. Never afterwards.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7680" y="1356360"/>
            <a:ext cx="2133600" cy="2484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8288">
            <a:solidFill>
              <a:srgbClr val="6B5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87680" y="1356360"/>
            <a:ext cx="2133600" cy="396240"/>
          </a:xfrm>
          <a:prstGeom prst="roundRect">
            <a:avLst>
              <a:gd name="adj" fmla="val 26923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87680" y="1584960"/>
            <a:ext cx="2133600" cy="167640"/>
          </a:xfrm>
          <a:prstGeom prst="roundRect">
            <a:avLst>
              <a:gd name="adj" fmla="val 50000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21638" y="1491082"/>
            <a:ext cx="665683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FFFFFF"/>
                </a:solidFill>
                <a:latin typeface="Segoe UI"/>
              </a:rPr>
              <a:t>FACTORY</a:t>
            </a:r>
          </a:p>
        </p:txBody>
      </p:sp>
      <p:sp>
        <p:nvSpPr>
          <p:cNvPr id="8" name="Oval 7"/>
          <p:cNvSpPr/>
          <p:nvPr/>
        </p:nvSpPr>
        <p:spPr>
          <a:xfrm>
            <a:off x="586740" y="1440180"/>
            <a:ext cx="228600" cy="228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4841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6B5BD2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" y="1925574"/>
            <a:ext cx="205740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sign the PLAINTEXT first,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123694"/>
            <a:ext cx="197510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then encrypt the payload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2321814"/>
            <a:ext cx="181051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the AES key is wrapped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" y="2519934"/>
            <a:ext cx="1728216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with ECIES into a TLV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600" y="3200400"/>
            <a:ext cx="1889760" cy="335280"/>
          </a:xfrm>
          <a:prstGeom prst="roundRect">
            <a:avLst>
              <a:gd name="adj" fmla="val 50000"/>
            </a:avLst>
          </a:prstGeom>
          <a:solidFill>
            <a:srgbClr val="EFF3F7"/>
          </a:solidFill>
          <a:ln w="12192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4979" y="3297174"/>
            <a:ext cx="115900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1">
                <a:solidFill>
                  <a:srgbClr val="5B6B80"/>
                </a:solidFill>
                <a:latin typeface="Segoe UI"/>
              </a:rPr>
              <a:t>no decryption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37460" y="2433828"/>
            <a:ext cx="304800" cy="4000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800" b="1">
                <a:solidFill>
                  <a:srgbClr val="5B6B80"/>
                </a:solidFill>
                <a:latin typeface="Segoe U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58440" y="1356360"/>
            <a:ext cx="2133600" cy="2484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8288">
            <a:solidFill>
              <a:srgbClr val="1B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758440" y="1356360"/>
            <a:ext cx="2133600" cy="396240"/>
          </a:xfrm>
          <a:prstGeom prst="roundRect">
            <a:avLst>
              <a:gd name="adj" fmla="val 26923"/>
            </a:avLst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758440" y="1584960"/>
            <a:ext cx="2133600" cy="167640"/>
          </a:xfrm>
          <a:prstGeom prst="roundRect">
            <a:avLst>
              <a:gd name="adj" fmla="val 50000"/>
            </a:avLst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44850" y="1491082"/>
            <a:ext cx="760781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FFFFFF"/>
                </a:solidFill>
                <a:latin typeface="Segoe UI"/>
              </a:rPr>
              <a:t>DOWNLOAD</a:t>
            </a:r>
          </a:p>
        </p:txBody>
      </p:sp>
      <p:sp>
        <p:nvSpPr>
          <p:cNvPr id="21" name="Oval 20"/>
          <p:cNvSpPr/>
          <p:nvPr/>
        </p:nvSpPr>
        <p:spPr>
          <a:xfrm>
            <a:off x="2857500" y="1440180"/>
            <a:ext cx="228600" cy="228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19400" y="144841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1B7CA8"/>
                </a:solidFill>
                <a:latin typeface="Segoe U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02280" y="1925574"/>
            <a:ext cx="164592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the app writes bytes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49168" y="2123694"/>
            <a:ext cx="115214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it cannot read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9168" y="2321814"/>
            <a:ext cx="115214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secondary slot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31464" y="2519934"/>
            <a:ext cx="98755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= ciphertext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880360" y="3200400"/>
            <a:ext cx="1889760" cy="335280"/>
          </a:xfrm>
          <a:prstGeom prst="roundRect">
            <a:avLst>
              <a:gd name="adj" fmla="val 50000"/>
            </a:avLst>
          </a:prstGeom>
          <a:solidFill>
            <a:srgbClr val="EFF3F7"/>
          </a:solidFill>
          <a:ln w="12192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45739" y="3297174"/>
            <a:ext cx="115900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1">
                <a:solidFill>
                  <a:srgbClr val="5B6B80"/>
                </a:solidFill>
                <a:latin typeface="Segoe UI"/>
              </a:rPr>
              <a:t>no decryption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8220" y="2433828"/>
            <a:ext cx="304800" cy="4000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800" b="1">
                <a:solidFill>
                  <a:srgbClr val="5B6B80"/>
                </a:solidFill>
                <a:latin typeface="Segoe UI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0" y="1356360"/>
            <a:ext cx="2133600" cy="2484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8288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0" y="1356360"/>
            <a:ext cx="2133600" cy="396240"/>
          </a:xfrm>
          <a:prstGeom prst="roundRect">
            <a:avLst>
              <a:gd name="adj" fmla="val 26923"/>
            </a:avLst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029200" y="1584960"/>
            <a:ext cx="2133600" cy="167640"/>
          </a:xfrm>
          <a:prstGeom prst="roundRect">
            <a:avLst>
              <a:gd name="adj" fmla="val 50000"/>
            </a:avLst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35219" y="1491082"/>
            <a:ext cx="152156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FFFFFF"/>
                </a:solidFill>
                <a:latin typeface="Segoe UI"/>
              </a:rPr>
              <a:t>VERIFY CANDIDATE</a:t>
            </a:r>
          </a:p>
        </p:txBody>
      </p:sp>
      <p:sp>
        <p:nvSpPr>
          <p:cNvPr id="34" name="Oval 33"/>
          <p:cNvSpPr/>
          <p:nvPr/>
        </p:nvSpPr>
        <p:spPr>
          <a:xfrm>
            <a:off x="5128260" y="1440180"/>
            <a:ext cx="228600" cy="228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90160" y="144841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E08A1E"/>
                </a:solidFill>
                <a:latin typeface="Segoe UI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90744" y="1925574"/>
            <a:ext cx="181051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decrypt block by block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90744" y="2123694"/>
            <a:ext cx="181051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IN RAM while hashing 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08448" y="2321814"/>
            <a:ext cx="197510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the signature covers the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85004" y="2519934"/>
            <a:ext cx="222199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plaintext. Nothing written.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51120" y="3200400"/>
            <a:ext cx="1889760" cy="335280"/>
          </a:xfrm>
          <a:prstGeom prst="roundRect">
            <a:avLst>
              <a:gd name="adj" fmla="val 50000"/>
            </a:avLst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82768" y="3297174"/>
            <a:ext cx="142646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DECRYPT — pass 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78980" y="2433828"/>
            <a:ext cx="304800" cy="4000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800" b="1">
                <a:solidFill>
                  <a:srgbClr val="5B6B80"/>
                </a:solidFill>
                <a:latin typeface="Segoe UI"/>
              </a:rPr>
              <a:t>›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299960" y="1356360"/>
            <a:ext cx="2133600" cy="2484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8288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299960" y="1356360"/>
            <a:ext cx="2133600" cy="396240"/>
          </a:xfrm>
          <a:prstGeom prst="roundRect">
            <a:avLst>
              <a:gd name="adj" fmla="val 26923"/>
            </a:avLst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7299960" y="1584960"/>
            <a:ext cx="2133600" cy="167640"/>
          </a:xfrm>
          <a:prstGeom prst="roundRect">
            <a:avLst>
              <a:gd name="adj" fmla="val 50000"/>
            </a:avLst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33918" y="1491082"/>
            <a:ext cx="665683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FFFFFF"/>
                </a:solidFill>
                <a:latin typeface="Segoe UI"/>
              </a:rPr>
              <a:t>INSTALL</a:t>
            </a:r>
          </a:p>
        </p:txBody>
      </p:sp>
      <p:sp>
        <p:nvSpPr>
          <p:cNvPr id="47" name="Oval 46"/>
          <p:cNvSpPr/>
          <p:nvPr/>
        </p:nvSpPr>
        <p:spPr>
          <a:xfrm>
            <a:off x="7399020" y="1440180"/>
            <a:ext cx="228600" cy="228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60920" y="144841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E08A1E"/>
                </a:solidFill>
                <a:latin typeface="Segoe UI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02652" y="1925574"/>
            <a:ext cx="1728216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decrypt while copying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61504" y="2123694"/>
            <a:ext cx="181051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into the primary slot.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26096" y="2321814"/>
            <a:ext cx="1481328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This one persists: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38060" y="2519934"/>
            <a:ext cx="205740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plaintext lands in flash.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421880" y="3200400"/>
            <a:ext cx="1889760" cy="335280"/>
          </a:xfrm>
          <a:prstGeom prst="roundRect">
            <a:avLst>
              <a:gd name="adj" fmla="val 50000"/>
            </a:avLst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53528" y="3297174"/>
            <a:ext cx="142646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DECRYPT — pass 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49740" y="2433828"/>
            <a:ext cx="304800" cy="4000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800" b="1">
                <a:solidFill>
                  <a:srgbClr val="5B6B80"/>
                </a:solidFill>
                <a:latin typeface="Segoe UI"/>
              </a:rPr>
              <a:t>›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570720" y="1356360"/>
            <a:ext cx="2133600" cy="2484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570720" y="1356360"/>
            <a:ext cx="2133600" cy="396240"/>
          </a:xfrm>
          <a:prstGeom prst="roundRect">
            <a:avLst>
              <a:gd name="adj" fmla="val 26923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570720" y="1584960"/>
            <a:ext cx="2133600" cy="167640"/>
          </a:xfrm>
          <a:prstGeom prst="roundRect">
            <a:avLst>
              <a:gd name="adj" fmla="val 50000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876739" y="1491082"/>
            <a:ext cx="152156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FFFFFF"/>
                </a:solidFill>
                <a:latin typeface="Segoe UI"/>
              </a:rPr>
              <a:t>EVERY BOOT AFTER</a:t>
            </a:r>
          </a:p>
        </p:txBody>
      </p:sp>
      <p:sp>
        <p:nvSpPr>
          <p:cNvPr id="60" name="Oval 59"/>
          <p:cNvSpPr/>
          <p:nvPr/>
        </p:nvSpPr>
        <p:spPr>
          <a:xfrm>
            <a:off x="9669780" y="1440180"/>
            <a:ext cx="228600" cy="228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31680" y="144841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12A05C"/>
                </a:solidFill>
                <a:latin typeface="Segoe UI"/>
              </a:rPr>
              <a:t>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67672" y="1925574"/>
            <a:ext cx="2139696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primary slot is plaintext: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08820" y="2123694"/>
            <a:ext cx="205740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hash it directly, or skip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91116" y="2321814"/>
            <a:ext cx="1892808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via the hash reference.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526524" y="2519934"/>
            <a:ext cx="222199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Runtime: crypto clocks off.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692640" y="3200400"/>
            <a:ext cx="1889760" cy="335280"/>
          </a:xfrm>
          <a:prstGeom prst="roundRect">
            <a:avLst>
              <a:gd name="adj" fmla="val 50000"/>
            </a:avLst>
          </a:prstGeom>
          <a:solidFill>
            <a:srgbClr val="EFF3F7"/>
          </a:solidFill>
          <a:ln w="12192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058019" y="3297174"/>
            <a:ext cx="115900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1">
                <a:solidFill>
                  <a:srgbClr val="5B6B80"/>
                </a:solidFill>
                <a:latin typeface="Segoe UI"/>
              </a:rPr>
              <a:t>no decryption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810000" y="3947160"/>
            <a:ext cx="4572000" cy="335280"/>
          </a:xfrm>
          <a:prstGeom prst="roundRect">
            <a:avLst>
              <a:gd name="adj" fmla="val 50000"/>
            </a:avLst>
          </a:prstGeom>
          <a:solidFill>
            <a:srgbClr val="ECE9FB"/>
          </a:solidFill>
          <a:ln w="15240">
            <a:solidFill>
              <a:srgbClr val="6B5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243072" y="4036162"/>
            <a:ext cx="570585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6B5BD2"/>
                </a:solidFill>
                <a:latin typeface="Segoe UI"/>
              </a:rPr>
              <a:t>before pass 1: unwrap the AES key with the ECIES private key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87680" y="4465320"/>
            <a:ext cx="5486400" cy="11582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8288">
            <a:solidFill>
              <a:srgbClr val="032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70560" y="4591660"/>
            <a:ext cx="2995574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1">
                <a:solidFill>
                  <a:srgbClr val="03234B"/>
                </a:solidFill>
                <a:latin typeface="Segoe UI"/>
              </a:rPr>
              <a:t>Why twice, and not once?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0560" y="4874362"/>
            <a:ext cx="4564685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Verification must finish BEFORE installation starts.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70560" y="5057242"/>
            <a:ext cx="4564685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Pass 1 is throwaway — it only reconstructs the hash.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0560" y="5240122"/>
            <a:ext cx="4740250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Install-then-verify would let a forged image overwrite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70560" y="5423002"/>
            <a:ext cx="482803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your working firmware before you discovered it was bad.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217920" y="4465320"/>
            <a:ext cx="5486400" cy="1158240"/>
          </a:xfrm>
          <a:prstGeom prst="roundRect">
            <a:avLst>
              <a:gd name="adj" fmla="val 10526"/>
            </a:avLst>
          </a:prstGeom>
          <a:solidFill>
            <a:srgbClr val="E2F5EC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0800" y="4591660"/>
            <a:ext cx="2745943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1">
                <a:solidFill>
                  <a:srgbClr val="03234B"/>
                </a:solidFill>
                <a:latin typeface="Segoe UI"/>
              </a:rPr>
              <a:t>Where plaintext exists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00800" y="4859122"/>
            <a:ext cx="133136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1">
                <a:solidFill>
                  <a:srgbClr val="12A05C"/>
                </a:solidFill>
                <a:latin typeface="Segoe UI"/>
              </a:rPr>
              <a:t>secondary slot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589520" y="4859122"/>
            <a:ext cx="4037990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never — ciphertext from download until install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00800" y="5042002"/>
            <a:ext cx="1141171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1">
                <a:solidFill>
                  <a:srgbClr val="12A05C"/>
                </a:solidFill>
                <a:latin typeface="Segoe UI"/>
              </a:rPr>
              <a:t>primary slot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589520" y="5042002"/>
            <a:ext cx="4389120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always, once installed — this is what the CPU runs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400800" y="5224882"/>
            <a:ext cx="304800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1">
                <a:solidFill>
                  <a:srgbClr val="12A05C"/>
                </a:solidFill>
                <a:latin typeface="Segoe UI"/>
              </a:rPr>
              <a:t>RAM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589520" y="5224882"/>
            <a:ext cx="4389120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transiently, block by block, during passes 1 and 2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87680" y="5760720"/>
            <a:ext cx="11216640" cy="396240"/>
          </a:xfrm>
          <a:prstGeom prst="roundRect">
            <a:avLst>
              <a:gd name="adj" fmla="val 23076"/>
            </a:avLst>
          </a:prstGeom>
          <a:solidFill>
            <a:srgbClr val="E4F4FC"/>
          </a:solidFill>
          <a:ln w="15240">
            <a:solidFill>
              <a:srgbClr val="1B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00252" y="5879897"/>
            <a:ext cx="10591495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80" b="1">
                <a:solidFill>
                  <a:srgbClr val="03234B"/>
                </a:solidFill>
                <a:latin typeface="Segoe UI"/>
              </a:rPr>
              <a:t>SWAP mode adds a third pass: the outgoing image is RE-ENCRYPTED on its way into the secondary slot.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7680" y="6329629"/>
            <a:ext cx="1417685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Encryption protects the image in transit and while it is staged. The installed image sits in flash as plaintext — what protects it there is RDP and WRP.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8582558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Where everything lives — 1 MB of flash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8410651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STM32C5A3ZG · two 512 KB banks · 8 KB pages · offsets from flash_layout.h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7680" y="1920240"/>
            <a:ext cx="788670" cy="929640"/>
          </a:xfrm>
          <a:prstGeom prst="roundRect">
            <a:avLst>
              <a:gd name="adj" fmla="val 7729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7850" y="2298649"/>
            <a:ext cx="80833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Segoe UI"/>
              </a:rPr>
              <a:t>RoT code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76350" y="1920240"/>
            <a:ext cx="262890" cy="929640"/>
          </a:xfrm>
          <a:prstGeom prst="roundRect">
            <a:avLst>
              <a:gd name="adj" fmla="val 23188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39240" y="1920240"/>
            <a:ext cx="5082540" cy="929640"/>
          </a:xfrm>
          <a:prstGeom prst="roundRect">
            <a:avLst>
              <a:gd name="adj" fmla="val 6557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60293" y="2175815"/>
            <a:ext cx="1640434" cy="3067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80" b="1">
                <a:solidFill>
                  <a:srgbClr val="FFFFFF"/>
                </a:solidFill>
                <a:latin typeface="Segoe UI"/>
              </a:rPr>
              <a:t>PRIMARY SLOT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4553" y="2451049"/>
            <a:ext cx="2051914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Segoe UI"/>
              </a:rPr>
              <a:t>the firmware that runs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21780" y="1920240"/>
            <a:ext cx="5082540" cy="929640"/>
          </a:xfrm>
          <a:prstGeom prst="roundRect">
            <a:avLst>
              <a:gd name="adj" fmla="val 6557"/>
            </a:avLst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6130" y="2175815"/>
            <a:ext cx="1913839" cy="3067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80" b="1">
                <a:solidFill>
                  <a:srgbClr val="FFFFFF"/>
                </a:solidFill>
                <a:latin typeface="Segoe UI"/>
              </a:rPr>
              <a:t>SECONDARY SLOT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56803" y="2451049"/>
            <a:ext cx="1212494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Segoe UI"/>
              </a:rPr>
              <a:t>download area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87680" y="1813560"/>
            <a:ext cx="0" cy="106680"/>
          </a:xfrm>
          <a:prstGeom prst="line">
            <a:avLst/>
          </a:prstGeom>
          <a:ln w="12192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87680" y="1605229"/>
            <a:ext cx="70728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5B6B80"/>
                </a:solidFill>
                <a:latin typeface="Consolas"/>
              </a:rPr>
              <a:t>0x00000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539240" y="1813560"/>
            <a:ext cx="0" cy="106680"/>
          </a:xfrm>
          <a:prstGeom prst="line">
            <a:avLst/>
          </a:prstGeom>
          <a:ln w="12192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185596" y="1605229"/>
            <a:ext cx="70728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5B6B80"/>
                </a:solidFill>
                <a:latin typeface="Consolas"/>
              </a:rPr>
              <a:t>0x18000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621780" y="1813560"/>
            <a:ext cx="0" cy="106680"/>
          </a:xfrm>
          <a:prstGeom prst="line">
            <a:avLst/>
          </a:prstGeom>
          <a:ln w="12192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68136" y="1605229"/>
            <a:ext cx="70728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5B6B80"/>
                </a:solidFill>
                <a:latin typeface="Consolas"/>
              </a:rPr>
              <a:t>0x8C000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704320" y="1813560"/>
            <a:ext cx="0" cy="106680"/>
          </a:xfrm>
          <a:prstGeom prst="line">
            <a:avLst/>
          </a:prstGeom>
          <a:ln w="12192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895990" y="1605229"/>
            <a:ext cx="80833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019" b="1">
                <a:solidFill>
                  <a:srgbClr val="5B6B80"/>
                </a:solidFill>
                <a:latin typeface="Consolas"/>
              </a:rPr>
              <a:t>0x100000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96000" y="1524000"/>
            <a:ext cx="0" cy="1325880"/>
          </a:xfrm>
          <a:prstGeom prst="line">
            <a:avLst/>
          </a:prstGeom>
          <a:ln w="18288">
            <a:solidFill>
              <a:srgbClr val="D0323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237150" y="1330909"/>
            <a:ext cx="17177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D0323C"/>
                </a:solidFill>
                <a:latin typeface="Segoe UI"/>
              </a:rPr>
              <a:t>bank 1  |  bank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4553" y="2938577"/>
            <a:ext cx="534924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80" b="1">
                <a:solidFill>
                  <a:srgbClr val="03234B"/>
                </a:solidFill>
                <a:latin typeface="Segoe UI"/>
              </a:rPr>
              <a:t>72 KB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59556" y="2938577"/>
            <a:ext cx="641909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80" b="1">
                <a:solidFill>
                  <a:srgbClr val="03234B"/>
                </a:solidFill>
                <a:latin typeface="Segoe UI"/>
              </a:rPr>
              <a:t>464 KB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42096" y="2938577"/>
            <a:ext cx="641909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80" b="1">
                <a:solidFill>
                  <a:srgbClr val="03234B"/>
                </a:solidFill>
                <a:latin typeface="Segoe UI"/>
              </a:rPr>
              <a:t>464 KB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7680" y="3261360"/>
            <a:ext cx="0" cy="91440"/>
          </a:xfrm>
          <a:prstGeom prst="line">
            <a:avLst/>
          </a:prstGeom>
          <a:ln w="19812">
            <a:solidFill>
              <a:srgbClr val="0323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87680" y="3352800"/>
            <a:ext cx="876300" cy="0"/>
          </a:xfrm>
          <a:prstGeom prst="line">
            <a:avLst/>
          </a:prstGeom>
          <a:ln w="19812">
            <a:solidFill>
              <a:srgbClr val="0323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363980" y="3261360"/>
            <a:ext cx="0" cy="91440"/>
          </a:xfrm>
          <a:prstGeom prst="line">
            <a:avLst/>
          </a:prstGeom>
          <a:ln w="19812">
            <a:solidFill>
              <a:srgbClr val="0323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424940" y="3352800"/>
            <a:ext cx="3360420" cy="0"/>
          </a:xfrm>
          <a:prstGeom prst="line">
            <a:avLst/>
          </a:prstGeom>
          <a:ln w="10668">
            <a:solidFill>
              <a:srgbClr val="03234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876800" y="3258617"/>
            <a:ext cx="3530498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03234B"/>
                </a:solidFill>
                <a:latin typeface="Segoe UI"/>
              </a:rPr>
              <a:t>WRP — cannot be erased or written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87680" y="3703320"/>
            <a:ext cx="0" cy="91440"/>
          </a:xfrm>
          <a:prstGeom prst="line">
            <a:avLst/>
          </a:prstGeom>
          <a:ln w="19812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87680" y="3794760"/>
            <a:ext cx="1051560" cy="0"/>
          </a:xfrm>
          <a:prstGeom prst="line">
            <a:avLst/>
          </a:prstGeom>
          <a:ln w="19812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539240" y="3703320"/>
            <a:ext cx="0" cy="91440"/>
          </a:xfrm>
          <a:prstGeom prst="line">
            <a:avLst/>
          </a:prstGeom>
          <a:ln w="19812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600200" y="3794760"/>
            <a:ext cx="3185160" cy="0"/>
          </a:xfrm>
          <a:prstGeom prst="line">
            <a:avLst/>
          </a:prstGeom>
          <a:ln w="10668">
            <a:solidFill>
              <a:srgbClr val="6B5B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876800" y="3700577"/>
            <a:ext cx="4386377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6B5BD2"/>
                </a:solidFill>
                <a:latin typeface="Segoe UI"/>
              </a:rPr>
              <a:t>HDP — invisible once the application runs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276350" y="2849880"/>
            <a:ext cx="1009650" cy="1752600"/>
          </a:xfrm>
          <a:prstGeom prst="line">
            <a:avLst/>
          </a:prstGeom>
          <a:ln w="13716">
            <a:solidFill>
              <a:srgbClr val="6B5B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539240" y="2849880"/>
            <a:ext cx="6233160" cy="1752600"/>
          </a:xfrm>
          <a:prstGeom prst="line">
            <a:avLst/>
          </a:prstGeom>
          <a:ln w="13716">
            <a:solidFill>
              <a:srgbClr val="6B5B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1276350" y="1920240"/>
            <a:ext cx="262890" cy="929640"/>
          </a:xfrm>
          <a:prstGeom prst="roundRect">
            <a:avLst>
              <a:gd name="adj" fmla="val 11594"/>
            </a:avLst>
          </a:prstGeom>
          <a:noFill/>
          <a:ln w="22860">
            <a:solidFill>
              <a:srgbClr val="6B5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286000" y="4602480"/>
            <a:ext cx="5486400" cy="1493520"/>
          </a:xfrm>
          <a:prstGeom prst="roundRect">
            <a:avLst>
              <a:gd name="adj" fmla="val 8163"/>
            </a:avLst>
          </a:prstGeom>
          <a:solidFill>
            <a:srgbClr val="ECE9FB"/>
          </a:solidFill>
          <a:ln w="18288">
            <a:solidFill>
              <a:srgbClr val="6B5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07335" y="4728820"/>
            <a:ext cx="424373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03234B"/>
                </a:solidFill>
                <a:latin typeface="Segoe UI"/>
              </a:rPr>
              <a:t>the 24 KB the RoT keeps for itself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84120" y="5095189"/>
            <a:ext cx="70728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6B5BD2"/>
                </a:solidFill>
                <a:latin typeface="Consolas"/>
              </a:rPr>
              <a:t>0x12000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22320" y="5095189"/>
            <a:ext cx="404165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keys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51960" y="5102962"/>
            <a:ext cx="447690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hash of the signing public key + the decryption key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84120" y="5384749"/>
            <a:ext cx="70728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6B5BD2"/>
                </a:solidFill>
                <a:latin typeface="Consolas"/>
              </a:rPr>
              <a:t>0x14000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22320" y="5384749"/>
            <a:ext cx="80833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counters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51960" y="5392522"/>
            <a:ext cx="386242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anti-rollback floor — refuses older firmware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84120" y="5674309"/>
            <a:ext cx="70728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6B5BD2"/>
                </a:solidFill>
                <a:latin typeface="Consolas"/>
              </a:rPr>
              <a:t>0x16000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22320" y="5674309"/>
            <a:ext cx="909371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hash refs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51960" y="5682082"/>
            <a:ext cx="4213555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lets a known-good image skip the signature check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77200" y="4602480"/>
            <a:ext cx="3627120" cy="1584960"/>
          </a:xfrm>
          <a:prstGeom prst="roundRect">
            <a:avLst>
              <a:gd name="adj" fmla="val 7692"/>
            </a:avLst>
          </a:prstGeom>
          <a:solidFill>
            <a:srgbClr val="FBE7E8"/>
          </a:solidFill>
          <a:ln w="18288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92973" y="4721657"/>
            <a:ext cx="2995574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80" b="1">
                <a:solidFill>
                  <a:srgbClr val="D0323C"/>
                </a:solidFill>
                <a:latin typeface="Segoe UI"/>
              </a:rPr>
              <a:t>Why the primary slot crosses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95359" y="4889297"/>
            <a:ext cx="1390802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80" b="1">
                <a:solidFill>
                  <a:srgbClr val="D0323C"/>
                </a:solidFill>
                <a:latin typeface="Segoe UI"/>
              </a:rPr>
              <a:t>the bank line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60080" y="5156454"/>
            <a:ext cx="3374136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96 KB comes off the front for the RoT, so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60080" y="5316474"/>
            <a:ext cx="362102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splitting the remaining 928 KB in half lands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60080" y="5476494"/>
            <a:ext cx="3374136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96 KB past the 0x80000 midpoint. Aligning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60080" y="5636514"/>
            <a:ext cx="304495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to the bank instead would mean 416 KB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60080" y="5796534"/>
            <a:ext cx="222199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slots — 48 KB less in each.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60080" y="5994959"/>
            <a:ext cx="4172407" cy="17335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780" b="1">
                <a:solidFill>
                  <a:srgbClr val="D0323C"/>
                </a:solidFill>
                <a:latin typeface="Segoe UI"/>
              </a:rPr>
              <a:t>Harmless for the install — it bites RWW and bank swap.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87680" y="6339840"/>
            <a:ext cx="11216640" cy="15240"/>
          </a:xfrm>
          <a:prstGeom prst="roundRect">
            <a:avLst>
              <a:gd name="adj" fmla="val 50000"/>
            </a:avLst>
          </a:prstGeom>
          <a:solidFill>
            <a:srgbClr val="C6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87680" y="6504432"/>
            <a:ext cx="13908024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Two slots of the same size is what makes a safe update possible — and it is why the app budget is 464 KB, not 925 KB.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6775704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From build to running firmware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9562795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The bootloader never downloads anything — it only ever looks at flash after a reset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7680" y="1280160"/>
            <a:ext cx="3581400" cy="4267200"/>
          </a:xfrm>
          <a:prstGeom prst="roundRect">
            <a:avLst>
              <a:gd name="adj" fmla="val 3829"/>
            </a:avLst>
          </a:prstGeom>
          <a:solidFill>
            <a:srgbClr val="FFFFFF"/>
          </a:solidFill>
          <a:ln w="18288">
            <a:solidFill>
              <a:srgbClr val="6B5B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5320" y="1158240"/>
            <a:ext cx="1432560" cy="243840"/>
          </a:xfrm>
          <a:prstGeom prst="roundRect">
            <a:avLst>
              <a:gd name="adj" fmla="val 50000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5917" y="1201522"/>
            <a:ext cx="133136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FFFFFF"/>
                </a:solidFill>
                <a:latin typeface="Segoe UI"/>
              </a:rPr>
              <a:t>IN THE FACTORY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7209" y="5316322"/>
            <a:ext cx="228234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6B5BD2"/>
                </a:solidFill>
                <a:latin typeface="Segoe UI"/>
              </a:rPr>
              <a:t>private keys never leave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2920" y="1280160"/>
            <a:ext cx="2286000" cy="426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8288">
            <a:solidFill>
              <a:srgbClr val="E08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80560" y="1158240"/>
            <a:ext cx="1264920" cy="243840"/>
          </a:xfrm>
          <a:prstGeom prst="roundRect">
            <a:avLst>
              <a:gd name="adj" fmla="val 50000"/>
            </a:avLst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2434" y="1201522"/>
            <a:ext cx="1141171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FFFFFF"/>
                </a:solidFill>
                <a:latin typeface="Segoe UI"/>
              </a:rPr>
              <a:t>IN THE FIELD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9846" y="5316322"/>
            <a:ext cx="2092147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E08A1E"/>
                </a:solidFill>
                <a:latin typeface="Segoe UI"/>
              </a:rPr>
              <a:t>any transport you like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42760" y="1280160"/>
            <a:ext cx="4861560" cy="4267200"/>
          </a:xfrm>
          <a:prstGeom prst="roundRect">
            <a:avLst>
              <a:gd name="adj" fmla="val 3214"/>
            </a:avLst>
          </a:prstGeom>
          <a:solidFill>
            <a:srgbClr val="FFFFFF"/>
          </a:solidFill>
          <a:ln w="18288">
            <a:solidFill>
              <a:srgbClr val="12A0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010400" y="1158240"/>
            <a:ext cx="1348740" cy="243840"/>
          </a:xfrm>
          <a:prstGeom prst="roundRect">
            <a:avLst>
              <a:gd name="adj" fmla="val 50000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66636" y="1201522"/>
            <a:ext cx="1236269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FFFFFF"/>
                </a:solidFill>
                <a:latin typeface="Segoe UI"/>
              </a:rPr>
              <a:t>ON THE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9527" y="5316322"/>
            <a:ext cx="294802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2A05C"/>
                </a:solidFill>
                <a:latin typeface="Segoe UI"/>
              </a:rPr>
              <a:t>the only place trust is decided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1562100"/>
            <a:ext cx="3185160" cy="899160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6764">
            <a:solidFill>
              <a:srgbClr val="6B5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7720" y="1684020"/>
            <a:ext cx="274320" cy="274320"/>
          </a:xfrm>
          <a:prstGeom prst="ellipse">
            <a:avLst/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480" y="171511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3480" y="1635252"/>
            <a:ext cx="594360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Build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3480" y="1879702"/>
            <a:ext cx="228234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appli.hex — plain firmware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2628900"/>
            <a:ext cx="3185160" cy="1524000"/>
          </a:xfrm>
          <a:prstGeom prst="roundRect">
            <a:avLst>
              <a:gd name="adj" fmla="val 8000"/>
            </a:avLst>
          </a:prstGeom>
          <a:solidFill>
            <a:srgbClr val="ECE9FB"/>
          </a:solidFill>
          <a:ln w="16764">
            <a:solidFill>
              <a:srgbClr val="6B5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7720" y="2750820"/>
            <a:ext cx="274320" cy="274320"/>
          </a:xfrm>
          <a:prstGeom prst="ellipse">
            <a:avLst/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2480" y="278191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3480" y="2702052"/>
            <a:ext cx="1901952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Sign and encrypt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3480" y="2946502"/>
            <a:ext cx="1931213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prepend a 0x400 header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3480" y="3129382"/>
            <a:ext cx="2545690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encrypt the payload (AES-128)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3480" y="3312262"/>
            <a:ext cx="3072384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append signature TLV (ECDSA P-256),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3480" y="3495142"/>
            <a:ext cx="2896819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version, security version, hashes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1547" y="4340657"/>
            <a:ext cx="2353666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80" b="1">
                <a:solidFill>
                  <a:srgbClr val="6B5BD2"/>
                </a:solidFill>
                <a:latin typeface="Consolas"/>
              </a:rPr>
              <a:t>appli_fwu_enc_sign.bin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7868" y="4577334"/>
            <a:ext cx="362102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safe to publish — it is encrypted and signed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95800" y="2095500"/>
            <a:ext cx="1920240" cy="1143000"/>
          </a:xfrm>
          <a:prstGeom prst="roundRect">
            <a:avLst>
              <a:gd name="adj" fmla="val 10666"/>
            </a:avLst>
          </a:prstGeom>
          <a:solidFill>
            <a:srgbClr val="FDF1DE"/>
          </a:solidFill>
          <a:ln w="16764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617720" y="2217420"/>
            <a:ext cx="274320" cy="274320"/>
          </a:xfrm>
          <a:prstGeom prst="ellipse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02480" y="224851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83480" y="2168652"/>
            <a:ext cx="832104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Deliver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83480" y="2413102"/>
            <a:ext cx="1141171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YModem here 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83480" y="2595982"/>
            <a:ext cx="1580083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BLE, USB, Ethernet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80" y="2778862"/>
            <a:ext cx="166786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would work the same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886200" y="2667000"/>
            <a:ext cx="579120" cy="0"/>
          </a:xfrm>
          <a:prstGeom prst="line">
            <a:avLst/>
          </a:prstGeom>
          <a:ln w="22860">
            <a:solidFill>
              <a:srgbClr val="E08A1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446520" y="2667000"/>
            <a:ext cx="548640" cy="0"/>
          </a:xfrm>
          <a:prstGeom prst="line">
            <a:avLst/>
          </a:prstGeom>
          <a:ln w="22860">
            <a:solidFill>
              <a:srgbClr val="E08A1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7025640" y="1562100"/>
            <a:ext cx="4495800" cy="79248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6764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147560" y="1684020"/>
            <a:ext cx="274320" cy="274320"/>
          </a:xfrm>
          <a:prstGeom prst="ellipse">
            <a:avLst/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0" y="171511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13320" y="1635252"/>
            <a:ext cx="2020824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The app stages 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13320" y="1879702"/>
            <a:ext cx="4301338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erase the secondary slot, write the image into it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025640" y="2476500"/>
            <a:ext cx="4495800" cy="79248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6764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147560" y="2598420"/>
            <a:ext cx="274320" cy="274320"/>
          </a:xfrm>
          <a:prstGeom prst="ellipse">
            <a:avLst/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32320" y="262951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13320" y="2549652"/>
            <a:ext cx="2258568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The app asks for 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13320" y="2794102"/>
            <a:ext cx="4037990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write the magic trailer at the end of the slot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025640" y="3390900"/>
            <a:ext cx="4495800" cy="640080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 w="16764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147560" y="3512820"/>
            <a:ext cx="274320" cy="274320"/>
          </a:xfrm>
          <a:prstGeom prst="ellipse">
            <a:avLst/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32320" y="354391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13320" y="3464052"/>
            <a:ext cx="594360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Reset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025640" y="4152900"/>
            <a:ext cx="4495800" cy="1036320"/>
          </a:xfrm>
          <a:prstGeom prst="roundRect">
            <a:avLst>
              <a:gd name="adj" fmla="val 11764"/>
            </a:avLst>
          </a:prstGeom>
          <a:solidFill>
            <a:srgbClr val="E2F5EC"/>
          </a:solidFill>
          <a:ln w="16764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147560" y="4274820"/>
            <a:ext cx="274320" cy="274320"/>
          </a:xfrm>
          <a:prstGeom prst="ellipse">
            <a:avLst/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32320" y="430591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13320" y="4226052"/>
            <a:ext cx="1783080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The RoT decides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13320" y="4470502"/>
            <a:ext cx="386242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unwrap the key · verify (decrypting to hash)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13320" y="4653382"/>
            <a:ext cx="386242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install (decrypting) · verify again · run it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87680" y="5806440"/>
            <a:ext cx="11216640" cy="579120"/>
          </a:xfrm>
          <a:prstGeom prst="roundRect">
            <a:avLst>
              <a:gd name="adj" fmla="val 18421"/>
            </a:avLst>
          </a:prstGeom>
          <a:solidFill>
            <a:srgbClr val="EFF3F7"/>
          </a:solidFill>
          <a:ln w="15240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85800" y="5894832"/>
            <a:ext cx="9747504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Why this split matters: all the network code lives in the replaceable application.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5800" y="6123737"/>
            <a:ext cx="9085478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0">
                <a:solidFill>
                  <a:srgbClr val="5B6B80"/>
                </a:solidFill>
                <a:latin typeface="Segoe UI"/>
              </a:rPr>
              <a:t>The immutable part stays small, offline, and has no attack surface facing the outside world.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10389413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What the bootloader does on every single reset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864108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Three ways to be rejected — and nothing runs until the signature checks 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47800" y="1203960"/>
            <a:ext cx="4267200" cy="411480"/>
          </a:xfrm>
          <a:prstGeom prst="roundRect">
            <a:avLst>
              <a:gd name="adj" fmla="val 29629"/>
            </a:avLst>
          </a:prstGeom>
          <a:solidFill>
            <a:srgbClr val="03234B"/>
          </a:solidFill>
          <a:ln w="18288">
            <a:solidFill>
              <a:srgbClr val="032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69361" y="1307440"/>
            <a:ext cx="624078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RESET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581400" y="1615440"/>
            <a:ext cx="0" cy="274320"/>
          </a:xfrm>
          <a:prstGeom prst="line">
            <a:avLst/>
          </a:prstGeom>
          <a:ln w="19812">
            <a:solidFill>
              <a:srgbClr val="0323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1447800" y="1889760"/>
            <a:ext cx="4267200" cy="502920"/>
          </a:xfrm>
          <a:prstGeom prst="roundRect">
            <a:avLst>
              <a:gd name="adj" fmla="val 24242"/>
            </a:avLst>
          </a:prstGeom>
          <a:solidFill>
            <a:srgbClr val="FFFFFF"/>
          </a:solidFill>
          <a:ln w="18288">
            <a:solidFill>
              <a:srgbClr val="032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2311" y="1970380"/>
            <a:ext cx="4618177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03234B"/>
                </a:solidFill>
                <a:latin typeface="Segoe UI"/>
              </a:rPr>
              <a:t>Apply protections, check option bytes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29740" y="2184654"/>
            <a:ext cx="370332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MPU · tamper · WRP · HDP · RDP · boot address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715000" y="2141220"/>
            <a:ext cx="2225040" cy="0"/>
          </a:xfrm>
          <a:prstGeom prst="line">
            <a:avLst/>
          </a:prstGeom>
          <a:ln w="19812">
            <a:solidFill>
              <a:srgbClr val="D0323C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836920" y="1925422"/>
            <a:ext cx="760781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1">
                <a:solidFill>
                  <a:srgbClr val="D0323C"/>
                </a:solidFill>
                <a:latin typeface="Segoe UI"/>
              </a:rPr>
              <a:t>mismatch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6240" y="1851660"/>
            <a:ext cx="3688080" cy="579120"/>
          </a:xfrm>
          <a:prstGeom prst="roundRect">
            <a:avLst>
              <a:gd name="adj" fmla="val 21052"/>
            </a:avLst>
          </a:prstGeom>
          <a:solidFill>
            <a:srgbClr val="FBE7E8"/>
          </a:solidFill>
          <a:ln w="15240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99120" y="1947824"/>
            <a:ext cx="3387852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03234B"/>
                </a:solidFill>
                <a:latin typeface="Segoe UI"/>
              </a:rPr>
              <a:t>Chip not in the expected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9120" y="2177034"/>
            <a:ext cx="320954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someone changed the option bytes — halt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581400" y="2392680"/>
            <a:ext cx="0" cy="274320"/>
          </a:xfrm>
          <a:prstGeom prst="line">
            <a:avLst/>
          </a:prstGeom>
          <a:ln w="19812">
            <a:solidFill>
              <a:srgbClr val="0323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447800" y="2667000"/>
            <a:ext cx="4267200" cy="502920"/>
          </a:xfrm>
          <a:prstGeom prst="roundRect">
            <a:avLst>
              <a:gd name="adj" fmla="val 24242"/>
            </a:avLst>
          </a:prstGeom>
          <a:solidFill>
            <a:srgbClr val="E4F4FC"/>
          </a:solidFill>
          <a:ln w="18288">
            <a:solidFill>
              <a:srgbClr val="1B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83613" y="2747620"/>
            <a:ext cx="2995574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03234B"/>
                </a:solidFill>
                <a:latin typeface="Segoe UI"/>
              </a:rPr>
              <a:t>Is an install requested?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7444" y="2961894"/>
            <a:ext cx="386791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magic trailer at the end of the secondary slot?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81400" y="3169920"/>
            <a:ext cx="0" cy="274320"/>
          </a:xfrm>
          <a:prstGeom prst="line">
            <a:avLst/>
          </a:prstGeom>
          <a:ln w="19812">
            <a:solidFill>
              <a:srgbClr val="0323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703320" y="3228442"/>
            <a:ext cx="304800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1">
                <a:solidFill>
                  <a:srgbClr val="12A05C"/>
                </a:solidFill>
                <a:latin typeface="Segoe UI"/>
              </a:rPr>
              <a:t>yes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47800" y="3444240"/>
            <a:ext cx="4267200" cy="502920"/>
          </a:xfrm>
          <a:prstGeom prst="roundRect">
            <a:avLst>
              <a:gd name="adj" fmla="val 24242"/>
            </a:avLst>
          </a:prstGeom>
          <a:solidFill>
            <a:srgbClr val="E4F4FC"/>
          </a:solidFill>
          <a:ln w="18288">
            <a:solidFill>
              <a:srgbClr val="1B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33244" y="3524860"/>
            <a:ext cx="2496312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03234B"/>
                </a:solidFill>
                <a:latin typeface="Segoe UI"/>
              </a:rPr>
              <a:t>Verify the candidate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2520" y="3739134"/>
            <a:ext cx="493776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decrypt to hash · signature · version ≥ floor · dependencies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715000" y="3695700"/>
            <a:ext cx="2225040" cy="0"/>
          </a:xfrm>
          <a:prstGeom prst="line">
            <a:avLst/>
          </a:prstGeom>
          <a:ln w="19812">
            <a:solidFill>
              <a:srgbClr val="D0323C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836920" y="3479902"/>
            <a:ext cx="380390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1">
                <a:solidFill>
                  <a:srgbClr val="D0323C"/>
                </a:solidFill>
                <a:latin typeface="Segoe UI"/>
              </a:rPr>
              <a:t>fail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16240" y="3406140"/>
            <a:ext cx="3688080" cy="579120"/>
          </a:xfrm>
          <a:prstGeom prst="roundRect">
            <a:avLst>
              <a:gd name="adj" fmla="val 21052"/>
            </a:avLst>
          </a:prstGeom>
          <a:solidFill>
            <a:srgbClr val="FBE7E8"/>
          </a:solidFill>
          <a:ln w="15240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99120" y="3502304"/>
            <a:ext cx="1919783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03234B"/>
                </a:solidFill>
                <a:latin typeface="Segoe UI"/>
              </a:rPr>
              <a:t>Candidate refused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99120" y="3731514"/>
            <a:ext cx="4773168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forged, corrupted or too old — the old image keeps running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581400" y="3947160"/>
            <a:ext cx="0" cy="274320"/>
          </a:xfrm>
          <a:prstGeom prst="line">
            <a:avLst/>
          </a:prstGeom>
          <a:ln w="19812">
            <a:solidFill>
              <a:srgbClr val="0323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447800" y="4221480"/>
            <a:ext cx="4267200" cy="502920"/>
          </a:xfrm>
          <a:prstGeom prst="roundRect">
            <a:avLst>
              <a:gd name="adj" fmla="val 24242"/>
            </a:avLst>
          </a:prstGeom>
          <a:solidFill>
            <a:srgbClr val="FDF1DE"/>
          </a:solidFill>
          <a:ln w="18288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44545" y="4302100"/>
            <a:ext cx="873709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03234B"/>
                </a:solidFill>
                <a:latin typeface="Segoe UI"/>
              </a:rPr>
              <a:t>INSTALL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" y="4516374"/>
            <a:ext cx="411480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overwrite · swap · bank flip — see the next slides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581400" y="4724400"/>
            <a:ext cx="0" cy="274320"/>
          </a:xfrm>
          <a:prstGeom prst="line">
            <a:avLst/>
          </a:prstGeom>
          <a:ln w="19812">
            <a:solidFill>
              <a:srgbClr val="0323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447800" y="4998720"/>
            <a:ext cx="4267200" cy="502920"/>
          </a:xfrm>
          <a:prstGeom prst="roundRect">
            <a:avLst>
              <a:gd name="adj" fmla="val 24242"/>
            </a:avLst>
          </a:prstGeom>
          <a:solidFill>
            <a:srgbClr val="E2F5EC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34719" y="5079340"/>
            <a:ext cx="4493362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03234B"/>
                </a:solidFill>
                <a:latin typeface="Segoe UI"/>
              </a:rPr>
              <a:t>Verify what sits in the primary slot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0224" y="5293614"/>
            <a:ext cx="510235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hash reference matches? skip · otherwise verify in full, twice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715000" y="5250180"/>
            <a:ext cx="2225040" cy="0"/>
          </a:xfrm>
          <a:prstGeom prst="line">
            <a:avLst/>
          </a:prstGeom>
          <a:ln w="19812">
            <a:solidFill>
              <a:srgbClr val="D0323C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836920" y="5034382"/>
            <a:ext cx="380390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1">
                <a:solidFill>
                  <a:srgbClr val="D0323C"/>
                </a:solidFill>
                <a:latin typeface="Segoe UI"/>
              </a:rPr>
              <a:t>fail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16240" y="4960620"/>
            <a:ext cx="3688080" cy="579120"/>
          </a:xfrm>
          <a:prstGeom prst="roundRect">
            <a:avLst>
              <a:gd name="adj" fmla="val 21052"/>
            </a:avLst>
          </a:prstGeom>
          <a:solidFill>
            <a:srgbClr val="FBE7E8"/>
          </a:solidFill>
          <a:ln w="15240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99120" y="5056784"/>
            <a:ext cx="1355141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03234B"/>
                </a:solidFill>
                <a:latin typeface="Segoe UI"/>
              </a:rPr>
              <a:t>Nothing runs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99120" y="5285994"/>
            <a:ext cx="3374136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a tampered primary slot is never executed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581400" y="5501640"/>
            <a:ext cx="0" cy="274320"/>
          </a:xfrm>
          <a:prstGeom prst="line">
            <a:avLst/>
          </a:prstGeom>
          <a:ln w="19812">
            <a:solidFill>
              <a:srgbClr val="0323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1447800" y="5775960"/>
            <a:ext cx="4267200" cy="411480"/>
          </a:xfrm>
          <a:prstGeom prst="roundRect">
            <a:avLst>
              <a:gd name="adj" fmla="val 29629"/>
            </a:avLst>
          </a:prstGeom>
          <a:solidFill>
            <a:srgbClr val="12A05C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521943" y="5879440"/>
            <a:ext cx="4118915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Close HDP · disable crypto · JUMP</a:t>
            </a:r>
          </a:p>
        </p:txBody>
      </p:sp>
      <p:cxnSp>
        <p:nvCxnSpPr>
          <p:cNvPr id="45" name="Connector 44"/>
          <p:cNvCxnSpPr/>
          <p:nvPr/>
        </p:nvCxnSpPr>
        <p:spPr>
          <a:xfrm flipH="1">
            <a:off x="1143000" y="2918460"/>
            <a:ext cx="304800" cy="0"/>
          </a:xfrm>
          <a:prstGeom prst="line">
            <a:avLst/>
          </a:prstGeom>
          <a:ln w="18288">
            <a:solidFill>
              <a:srgbClr val="5B6B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43000" y="2918460"/>
            <a:ext cx="0" cy="2331720"/>
          </a:xfrm>
          <a:prstGeom prst="line">
            <a:avLst/>
          </a:prstGeom>
          <a:ln w="18288">
            <a:solidFill>
              <a:srgbClr val="5B6B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43000" y="5250180"/>
            <a:ext cx="259080" cy="0"/>
          </a:xfrm>
          <a:prstGeom prst="line">
            <a:avLst/>
          </a:prstGeom>
          <a:ln w="18288">
            <a:solidFill>
              <a:srgbClr val="5B6B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1112520" y="2710282"/>
            <a:ext cx="304800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960" b="1">
                <a:solidFill>
                  <a:srgbClr val="5B6B80"/>
                </a:solidFill>
                <a:latin typeface="Segoe UI"/>
              </a:rPr>
              <a:t>no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-207264" y="5613654"/>
            <a:ext cx="156362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the ordinary boot 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-42672" y="5781294"/>
            <a:ext cx="139903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no update pending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11518697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Dual slot, OVERWRITE — what runs on the board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10599725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The new image is copied over the old one. Simple, power-fail safe, and there is no way back.</a:t>
            </a:r>
          </a:p>
        </p:txBody>
      </p:sp>
      <p:sp>
        <p:nvSpPr>
          <p:cNvPr id="4" name="Oval 3"/>
          <p:cNvSpPr/>
          <p:nvPr/>
        </p:nvSpPr>
        <p:spPr>
          <a:xfrm>
            <a:off x="571500" y="1592580"/>
            <a:ext cx="320040" cy="320040"/>
          </a:xfrm>
          <a:prstGeom prst="ellipse">
            <a:avLst/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9120" y="164653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4272"/>
            <a:ext cx="3803904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The app erases the download area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1676400"/>
            <a:ext cx="3756660" cy="563880"/>
          </a:xfrm>
          <a:prstGeom prst="roundRect">
            <a:avLst>
              <a:gd name="adj" fmla="val 13513"/>
            </a:avLst>
          </a:prstGeom>
          <a:solidFill>
            <a:srgbClr val="E2F5EC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06600" y="1764944"/>
            <a:ext cx="1355141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PRIMARY SLOT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51328" y="1986382"/>
            <a:ext cx="665683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2A05C"/>
                </a:solidFill>
                <a:latin typeface="Segoe UI"/>
              </a:rPr>
              <a:t>RUNNING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69180" y="1676400"/>
            <a:ext cx="3756660" cy="563880"/>
          </a:xfrm>
          <a:prstGeom prst="roundRect">
            <a:avLst>
              <a:gd name="adj" fmla="val 13513"/>
            </a:avLst>
          </a:prstGeom>
          <a:solidFill>
            <a:srgbClr val="EFF3F7"/>
          </a:solidFill>
          <a:ln w="18288">
            <a:solidFill>
              <a:srgbClr val="C6D0D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57011" y="1764944"/>
            <a:ext cx="1580998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SECONDARY SLOT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2217" y="1986382"/>
            <a:ext cx="57058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5B6B80"/>
                </a:solidFill>
                <a:latin typeface="Segoe UI"/>
              </a:rPr>
              <a:t>ERASED</a:t>
            </a:r>
          </a:p>
        </p:txBody>
      </p:sp>
      <p:sp>
        <p:nvSpPr>
          <p:cNvPr id="13" name="Oval 12"/>
          <p:cNvSpPr/>
          <p:nvPr/>
        </p:nvSpPr>
        <p:spPr>
          <a:xfrm>
            <a:off x="571500" y="2491740"/>
            <a:ext cx="320040" cy="320040"/>
          </a:xfrm>
          <a:prstGeom prst="ellipse">
            <a:avLst/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9120" y="254569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313432"/>
            <a:ext cx="4160520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YModem writes the new image into 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2575560"/>
            <a:ext cx="3756660" cy="563880"/>
          </a:xfrm>
          <a:prstGeom prst="roundRect">
            <a:avLst>
              <a:gd name="adj" fmla="val 13513"/>
            </a:avLst>
          </a:prstGeom>
          <a:solidFill>
            <a:srgbClr val="E2F5EC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06600" y="2664104"/>
            <a:ext cx="1355141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PRIMARY SLOT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51328" y="2885542"/>
            <a:ext cx="665683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2A05C"/>
                </a:solidFill>
                <a:latin typeface="Segoe UI"/>
              </a:rPr>
              <a:t>RUNNING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69180" y="2575560"/>
            <a:ext cx="3756660" cy="563880"/>
          </a:xfrm>
          <a:prstGeom prst="roundRect">
            <a:avLst>
              <a:gd name="adj" fmla="val 13513"/>
            </a:avLst>
          </a:prstGeom>
          <a:solidFill>
            <a:srgbClr val="E4F4FC"/>
          </a:solidFill>
          <a:ln w="18288">
            <a:solidFill>
              <a:srgbClr val="1B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57011" y="2664104"/>
            <a:ext cx="1580998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SECONDARY SLOT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06339" y="2885542"/>
            <a:ext cx="228234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B7CA8"/>
                </a:solidFill>
                <a:latin typeface="Segoe UI"/>
              </a:rPr>
              <a:t>STAGED — not trusted yet</a:t>
            </a:r>
          </a:p>
        </p:txBody>
      </p:sp>
      <p:sp>
        <p:nvSpPr>
          <p:cNvPr id="22" name="Oval 21"/>
          <p:cNvSpPr/>
          <p:nvPr/>
        </p:nvSpPr>
        <p:spPr>
          <a:xfrm>
            <a:off x="571500" y="3390900"/>
            <a:ext cx="320040" cy="320040"/>
          </a:xfrm>
          <a:prstGeom prst="ellipse">
            <a:avLst/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9120" y="344485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212592"/>
            <a:ext cx="3803904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The app writes the magic trailer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840" y="3474720"/>
            <a:ext cx="3756660" cy="563880"/>
          </a:xfrm>
          <a:prstGeom prst="roundRect">
            <a:avLst>
              <a:gd name="adj" fmla="val 13513"/>
            </a:avLst>
          </a:prstGeom>
          <a:solidFill>
            <a:srgbClr val="E2F5EC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06600" y="3563264"/>
            <a:ext cx="1355141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PRIMARY SLOT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51328" y="3784702"/>
            <a:ext cx="665683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2A05C"/>
                </a:solidFill>
                <a:latin typeface="Segoe UI"/>
              </a:rPr>
              <a:t>RUNNING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69180" y="3474720"/>
            <a:ext cx="3756660" cy="563880"/>
          </a:xfrm>
          <a:prstGeom prst="roundRect">
            <a:avLst>
              <a:gd name="adj" fmla="val 13513"/>
            </a:avLst>
          </a:prstGeom>
          <a:solidFill>
            <a:srgbClr val="E4F4FC"/>
          </a:solidFill>
          <a:ln w="18288">
            <a:solidFill>
              <a:srgbClr val="1B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57011" y="3563264"/>
            <a:ext cx="1580998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SECONDARY SLOT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06339" y="3784702"/>
            <a:ext cx="228234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B7CA8"/>
                </a:solidFill>
                <a:latin typeface="Segoe UI"/>
              </a:rPr>
              <a:t>STAGED — not trusted yet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99960" y="3375660"/>
            <a:ext cx="1249680" cy="198120"/>
          </a:xfrm>
          <a:prstGeom prst="roundRect">
            <a:avLst>
              <a:gd name="adj" fmla="val 50000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56145" y="3396234"/>
            <a:ext cx="133731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MAGIC @ 0xFFFF0</a:t>
            </a:r>
          </a:p>
        </p:txBody>
      </p:sp>
      <p:sp>
        <p:nvSpPr>
          <p:cNvPr id="33" name="Oval 32"/>
          <p:cNvSpPr/>
          <p:nvPr/>
        </p:nvSpPr>
        <p:spPr>
          <a:xfrm>
            <a:off x="571500" y="4290060"/>
            <a:ext cx="320040" cy="320040"/>
          </a:xfrm>
          <a:prstGeom prst="ellipse">
            <a:avLst/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9120" y="434401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4111752"/>
            <a:ext cx="8439912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Reset — the RoT verifies (decrypting to hash), then copies (decrypting)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5840" y="4373880"/>
            <a:ext cx="3756660" cy="563880"/>
          </a:xfrm>
          <a:prstGeom prst="roundRect">
            <a:avLst>
              <a:gd name="adj" fmla="val 13513"/>
            </a:avLst>
          </a:prstGeom>
          <a:pattFill prst="ltUpDiag">
            <a:fgClr>
              <a:srgbClr val="E08A1E"/>
            </a:fgClr>
            <a:bgClr>
              <a:srgbClr val="FDF1DE"/>
            </a:bgClr>
          </a:pattFill>
          <a:ln w="18288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6600" y="4462424"/>
            <a:ext cx="1355141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PRIMARY SLOT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23389" y="4683862"/>
            <a:ext cx="152156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E08A1E"/>
                </a:solidFill>
                <a:latin typeface="Segoe UI"/>
              </a:rPr>
              <a:t>COPY IN PROGRESS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869180" y="4373880"/>
            <a:ext cx="3756660" cy="563880"/>
          </a:xfrm>
          <a:prstGeom prst="roundRect">
            <a:avLst>
              <a:gd name="adj" fmla="val 13513"/>
            </a:avLst>
          </a:prstGeom>
          <a:solidFill>
            <a:srgbClr val="E4F4FC"/>
          </a:solidFill>
          <a:ln w="18288">
            <a:solidFill>
              <a:srgbClr val="1B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57011" y="4462424"/>
            <a:ext cx="1580998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SECONDARY SLOT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06339" y="4683862"/>
            <a:ext cx="228234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B7CA8"/>
                </a:solidFill>
                <a:latin typeface="Segoe UI"/>
              </a:rPr>
              <a:t>STAGED — not trusted yet</a:t>
            </a:r>
          </a:p>
        </p:txBody>
      </p:sp>
      <p:sp>
        <p:nvSpPr>
          <p:cNvPr id="42" name="Oval 41"/>
          <p:cNvSpPr/>
          <p:nvPr/>
        </p:nvSpPr>
        <p:spPr>
          <a:xfrm>
            <a:off x="571500" y="5189220"/>
            <a:ext cx="320040" cy="320040"/>
          </a:xfrm>
          <a:prstGeom prst="ellipse">
            <a:avLst/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9120" y="524317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5010912"/>
            <a:ext cx="4754880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Done — the old firmware no longer exists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5840" y="5273040"/>
            <a:ext cx="3756660" cy="563880"/>
          </a:xfrm>
          <a:prstGeom prst="roundRect">
            <a:avLst>
              <a:gd name="adj" fmla="val 13513"/>
            </a:avLst>
          </a:prstGeom>
          <a:solidFill>
            <a:srgbClr val="E2F5EC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206600" y="5361584"/>
            <a:ext cx="1355141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PRIMARY SLOT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51328" y="5583022"/>
            <a:ext cx="665683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2A05C"/>
                </a:solidFill>
                <a:latin typeface="Segoe UI"/>
              </a:rPr>
              <a:t>RUNNING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869180" y="5273040"/>
            <a:ext cx="3756660" cy="563880"/>
          </a:xfrm>
          <a:prstGeom prst="roundRect">
            <a:avLst>
              <a:gd name="adj" fmla="val 13513"/>
            </a:avLst>
          </a:prstGeom>
          <a:solidFill>
            <a:srgbClr val="EFF3F7"/>
          </a:solidFill>
          <a:ln w="18288">
            <a:solidFill>
              <a:srgbClr val="C6D0D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57011" y="5361584"/>
            <a:ext cx="1580998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SECONDARY SLOT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72022" y="5583022"/>
            <a:ext cx="95097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5B6B80"/>
                </a:solidFill>
                <a:latin typeface="Segoe UI"/>
              </a:rPr>
              <a:t>inert copy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945880" y="1447800"/>
            <a:ext cx="2758440" cy="1630680"/>
          </a:xfrm>
          <a:prstGeom prst="roundRect">
            <a:avLst>
              <a:gd name="adj" fmla="val 7476"/>
            </a:avLst>
          </a:prstGeom>
          <a:solidFill>
            <a:srgbClr val="E2F5EC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9220962" y="1767840"/>
            <a:ext cx="58674" cy="58674"/>
          </a:xfrm>
          <a:prstGeom prst="line">
            <a:avLst/>
          </a:prstGeom>
          <a:ln w="33528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9279636" y="1700784"/>
            <a:ext cx="100584" cy="125730"/>
          </a:xfrm>
          <a:prstGeom prst="line">
            <a:avLst/>
          </a:prstGeom>
          <a:ln w="33528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494520" y="1673352"/>
            <a:ext cx="2139696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Power loss is safe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44000" y="1994002"/>
            <a:ext cx="2721254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The magic trailer is still set,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0" y="2176882"/>
            <a:ext cx="2721254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so the copy simply starts again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2359762"/>
            <a:ext cx="2457907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at the next boot. The device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44000" y="2542642"/>
            <a:ext cx="263347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cannot be bricked mid-install.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945880" y="3230880"/>
            <a:ext cx="2758440" cy="1783080"/>
          </a:xfrm>
          <a:prstGeom prst="roundRect">
            <a:avLst>
              <a:gd name="adj" fmla="val 6837"/>
            </a:avLst>
          </a:prstGeom>
          <a:solidFill>
            <a:srgbClr val="FBE7E8"/>
          </a:solidFill>
          <a:ln w="18288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235440" y="3489960"/>
            <a:ext cx="121920" cy="121920"/>
          </a:xfrm>
          <a:prstGeom prst="line">
            <a:avLst/>
          </a:prstGeom>
          <a:ln w="30480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9235440" y="3489960"/>
            <a:ext cx="121920" cy="121920"/>
          </a:xfrm>
          <a:prstGeom prst="line">
            <a:avLst/>
          </a:prstGeom>
          <a:ln w="30480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9494520" y="3456432"/>
            <a:ext cx="2496312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The one it cannot fix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0" y="3777082"/>
            <a:ext cx="2545690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A correctly signed image that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3959962"/>
            <a:ext cx="263347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installs, boots, then crashes.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44000" y="4142842"/>
            <a:ext cx="2457907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The old firmware is gone and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4325722"/>
            <a:ext cx="2457907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the update menu lived inside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0" y="4508602"/>
            <a:ext cx="2106778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the app — so nothing can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144000" y="4691482"/>
            <a:ext cx="2018995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recover it but a probe.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31520" y="5989320"/>
            <a:ext cx="7894320" cy="487680"/>
          </a:xfrm>
          <a:prstGeom prst="roundRect">
            <a:avLst>
              <a:gd name="adj" fmla="val 21875"/>
            </a:avLst>
          </a:prstGeom>
          <a:solidFill>
            <a:srgbClr val="EFF3F7"/>
          </a:solidFill>
          <a:ln w="15240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14400" y="6146444"/>
            <a:ext cx="10007194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0">
                <a:solidFill>
                  <a:srgbClr val="03234B"/>
                </a:solidFill>
                <a:latin typeface="Segoe UI"/>
              </a:rPr>
              <a:t>Forged, corrupted or out-of-date images are rejected at step 4 — before anything is overwritten.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9485986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Why the application has to ask, explicitly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6912864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Step 3 of the update sequence — the one that looks redundant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7680" y="1280160"/>
            <a:ext cx="5334000" cy="1341120"/>
          </a:xfrm>
          <a:prstGeom prst="roundRect">
            <a:avLst>
              <a:gd name="adj" fmla="val 9090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36675"/>
            <a:ext cx="5604815" cy="3067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80" b="1">
                <a:solidFill>
                  <a:srgbClr val="FFFFFF"/>
                </a:solidFill>
                <a:latin typeface="Segoe UI"/>
              </a:rPr>
              <a:t>The two stages cannot talk to each other.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65097"/>
            <a:ext cx="5036515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0">
                <a:solidFill>
                  <a:srgbClr val="3CB4E6"/>
                </a:solidFill>
                <a:latin typeface="Segoe UI"/>
              </a:rPr>
              <a:t>The RoT runs, hands over, and closes HDP behind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93697"/>
            <a:ext cx="3555187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0">
                <a:solidFill>
                  <a:srgbClr val="3CB4E6"/>
                </a:solidFill>
                <a:latin typeface="Segoe UI"/>
              </a:rPr>
              <a:t>No call back. No API. No shared RAM.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22297"/>
            <a:ext cx="5727802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0">
                <a:solidFill>
                  <a:srgbClr val="3CB4E6"/>
                </a:solidFill>
                <a:latin typeface="Segoe UI"/>
              </a:rPr>
              <a:t>The only channel is: leave something in flash, then reset.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65520" y="1280160"/>
            <a:ext cx="5638800" cy="1341120"/>
          </a:xfrm>
          <a:prstGeom prst="roundRect">
            <a:avLst>
              <a:gd name="adj" fmla="val 9090"/>
            </a:avLst>
          </a:prstGeom>
          <a:solidFill>
            <a:srgbClr val="ECE9FB"/>
          </a:solidFill>
          <a:ln w="18288">
            <a:solidFill>
              <a:srgbClr val="6B5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436675"/>
            <a:ext cx="6014923" cy="3067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80" b="1">
                <a:solidFill>
                  <a:srgbClr val="6B5BD2"/>
                </a:solidFill>
                <a:latin typeface="Segoe UI"/>
              </a:rPr>
              <a:t>So "install this" has to be a mark in flash.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765097"/>
            <a:ext cx="4147718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0">
                <a:solidFill>
                  <a:srgbClr val="5B6B80"/>
                </a:solidFill>
                <a:latin typeface="Segoe UI"/>
              </a:rPr>
              <a:t>16 bytes, at the end of the download slot.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993697"/>
            <a:ext cx="4937760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0">
                <a:solidFill>
                  <a:srgbClr val="5B6B80"/>
                </a:solidFill>
                <a:latin typeface="Segoe UI"/>
              </a:rPr>
              <a:t>The application writes it; the bootloader reads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222297"/>
            <a:ext cx="4839005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0">
                <a:solidFill>
                  <a:srgbClr val="5B6B80"/>
                </a:solidFill>
                <a:latin typeface="Segoe UI"/>
              </a:rPr>
              <a:t>after the next reset. That is the whole protocol.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7680" y="2941320"/>
            <a:ext cx="3596640" cy="1920240"/>
          </a:xfrm>
          <a:prstGeom prst="roundRect">
            <a:avLst>
              <a:gd name="adj" fmla="val 6349"/>
            </a:avLst>
          </a:prstGeom>
          <a:solidFill>
            <a:srgbClr val="E4F4FC"/>
          </a:solidFill>
          <a:ln w="18288">
            <a:solidFill>
              <a:srgbClr val="1B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70560" y="3108960"/>
            <a:ext cx="304800" cy="304800"/>
          </a:xfrm>
          <a:prstGeom prst="ellipse">
            <a:avLst/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0560" y="315529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6800" y="3166872"/>
            <a:ext cx="3328416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"Downloaded" is not "wanted"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578962"/>
            <a:ext cx="316016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Download at 2 a.m., install during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784702"/>
            <a:ext cx="298460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maintenance window. Two decisions,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990442"/>
            <a:ext cx="298460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two menu items: Download (2), then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196182"/>
            <a:ext cx="2194560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Request installation (3).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2941320"/>
            <a:ext cx="3596640" cy="1920240"/>
          </a:xfrm>
          <a:prstGeom prst="roundRect">
            <a:avLst>
              <a:gd name="adj" fmla="val 6349"/>
            </a:avLst>
          </a:prstGeom>
          <a:solidFill>
            <a:srgbClr val="E2F5EC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80560" y="3108960"/>
            <a:ext cx="304800" cy="304800"/>
          </a:xfrm>
          <a:prstGeom prst="ellipse">
            <a:avLst/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315529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6800" y="3166872"/>
            <a:ext cx="3685032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It proves the download finished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41520" y="3578962"/>
            <a:ext cx="316016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Erased flash is 0xFF, and an aborted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41520" y="3784702"/>
            <a:ext cx="351129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transfer leaves a slot that looks like 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41520" y="3990442"/>
            <a:ext cx="3247949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valid start. The magic sits AFTER the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41520" y="4196182"/>
            <a:ext cx="386242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image — so it exists only if all of it does.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07680" y="2941320"/>
            <a:ext cx="3596640" cy="1920240"/>
          </a:xfrm>
          <a:prstGeom prst="roundRect">
            <a:avLst>
              <a:gd name="adj" fmla="val 6349"/>
            </a:avLst>
          </a:prstGeom>
          <a:solidFill>
            <a:srgbClr val="FDF1DE"/>
          </a:solidFill>
          <a:ln w="18288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90560" y="3108960"/>
            <a:ext cx="304800" cy="304800"/>
          </a:xfrm>
          <a:prstGeom prst="ellipse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90560" y="315529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3166872"/>
            <a:ext cx="3685032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Deliberately not a trust signal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51520" y="3578962"/>
            <a:ext cx="3247949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The app writes it, so it can only say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51520" y="3784702"/>
            <a:ext cx="2896819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"look here" — never "trust this".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51520" y="3990442"/>
            <a:ext cx="316016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Verification happens afterwards, and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51520" y="4196182"/>
            <a:ext cx="2457907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rejects anything that fails.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7680" y="5095189"/>
            <a:ext cx="1919783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5B6B80"/>
                </a:solidFill>
                <a:latin typeface="Segoe UI"/>
              </a:rPr>
              <a:t>the whole handshake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87680" y="5364480"/>
            <a:ext cx="4648200" cy="426720"/>
          </a:xfrm>
          <a:prstGeom prst="roundRect">
            <a:avLst>
              <a:gd name="adj" fmla="val 14285"/>
            </a:avLst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902409" y="5430469"/>
            <a:ext cx="1818742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Segoe UI"/>
              </a:rPr>
              <a:t>download the image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69871" y="5613959"/>
            <a:ext cx="1283818" cy="17335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780" b="0">
                <a:solidFill>
                  <a:srgbClr val="FFFFFF"/>
                </a:solidFill>
                <a:latin typeface="Segoe UI"/>
              </a:rPr>
              <a:t>seconds to minutes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1580" y="5421478"/>
            <a:ext cx="304800" cy="34671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560" b="1">
                <a:solidFill>
                  <a:srgbClr val="5B6B80"/>
                </a:solidFill>
                <a:latin typeface="Segoe UI"/>
              </a:rPr>
              <a:t>›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212080" y="5364480"/>
            <a:ext cx="2209800" cy="426720"/>
          </a:xfrm>
          <a:prstGeom prst="roundRect">
            <a:avLst>
              <a:gd name="adj" fmla="val 14285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09692" y="5430469"/>
            <a:ext cx="1414577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Segoe UI"/>
              </a:rPr>
              <a:t>write 16 bytes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67349" y="5613959"/>
            <a:ext cx="499262" cy="17335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780" b="0">
                <a:solidFill>
                  <a:srgbClr val="FFFFFF"/>
                </a:solidFill>
                <a:latin typeface="Segoe UI"/>
              </a:rPr>
              <a:t>instant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07580" y="5421478"/>
            <a:ext cx="304800" cy="34671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560" b="1">
                <a:solidFill>
                  <a:srgbClr val="5B6B80"/>
                </a:solidFill>
                <a:latin typeface="Segoe UI"/>
              </a:rPr>
              <a:t>›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498080" y="5364480"/>
            <a:ext cx="1447800" cy="426720"/>
          </a:xfrm>
          <a:prstGeom prst="roundRect">
            <a:avLst>
              <a:gd name="adj" fmla="val 14285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69377" y="5491429"/>
            <a:ext cx="505206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Segoe UI"/>
              </a:rPr>
              <a:t>reset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31580" y="5421478"/>
            <a:ext cx="304800" cy="34671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560" b="1">
                <a:solidFill>
                  <a:srgbClr val="5B6B80"/>
                </a:solidFill>
                <a:latin typeface="Segoe UI"/>
              </a:rPr>
              <a:t>›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022080" y="5364480"/>
            <a:ext cx="2606040" cy="426720"/>
          </a:xfrm>
          <a:prstGeom prst="roundRect">
            <a:avLst>
              <a:gd name="adj" fmla="val 14285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62085" y="5491429"/>
            <a:ext cx="252603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Segoe UI"/>
              </a:rPr>
              <a:t>RoT verifies and installs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7680" y="6001817"/>
            <a:ext cx="15191842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D0323C"/>
                </a:solidFill>
                <a:latin typeface="Segoe UI"/>
              </a:rPr>
              <a:t>Without the flag the RoT would have to guess — re-verifying the download slot on every boot, or installing whatever happens to be lying there.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9711842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Dual slot, SWAP — the device rescues itself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1048451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The old firmware is kept. The new one must prove it works, or it is put back automatically.</a:t>
            </a:r>
          </a:p>
        </p:txBody>
      </p:sp>
      <p:sp>
        <p:nvSpPr>
          <p:cNvPr id="4" name="Oval 3"/>
          <p:cNvSpPr/>
          <p:nvPr/>
        </p:nvSpPr>
        <p:spPr>
          <a:xfrm>
            <a:off x="571500" y="1531620"/>
            <a:ext cx="320040" cy="320040"/>
          </a:xfrm>
          <a:prstGeom prst="ellipse">
            <a:avLst/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9120" y="158557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353312"/>
            <a:ext cx="4636008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Download and request, exactly as before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1615440"/>
            <a:ext cx="5128260" cy="563880"/>
          </a:xfrm>
          <a:prstGeom prst="roundRect">
            <a:avLst>
              <a:gd name="adj" fmla="val 13513"/>
            </a:avLst>
          </a:prstGeom>
          <a:solidFill>
            <a:srgbClr val="E2F5EC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92400" y="1703984"/>
            <a:ext cx="1355141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PRIMARY SLOT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7128" y="1925422"/>
            <a:ext cx="665683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2A05C"/>
                </a:solidFill>
                <a:latin typeface="Segoe UI"/>
              </a:rPr>
              <a:t>RUNNING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1615440"/>
            <a:ext cx="5128260" cy="563880"/>
          </a:xfrm>
          <a:prstGeom prst="roundRect">
            <a:avLst>
              <a:gd name="adj" fmla="val 13513"/>
            </a:avLst>
          </a:prstGeom>
          <a:solidFill>
            <a:srgbClr val="E4F4FC"/>
          </a:solidFill>
          <a:ln w="18288">
            <a:solidFill>
              <a:srgbClr val="1B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14411" y="1703984"/>
            <a:ext cx="1580998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SECONDARY SLOT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3739" y="1925422"/>
            <a:ext cx="228234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B7CA8"/>
                </a:solidFill>
                <a:latin typeface="Segoe UI"/>
              </a:rPr>
              <a:t>STAGED — not trusted yet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774680" y="1516380"/>
            <a:ext cx="518160" cy="198120"/>
          </a:xfrm>
          <a:prstGeom prst="roundRect">
            <a:avLst>
              <a:gd name="adj" fmla="val 50000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10875" y="1536954"/>
            <a:ext cx="44577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MAGIC</a:t>
            </a:r>
          </a:p>
        </p:txBody>
      </p:sp>
      <p:sp>
        <p:nvSpPr>
          <p:cNvPr id="15" name="Oval 14"/>
          <p:cNvSpPr/>
          <p:nvPr/>
        </p:nvSpPr>
        <p:spPr>
          <a:xfrm>
            <a:off x="571500" y="2461260"/>
            <a:ext cx="320040" cy="320040"/>
          </a:xfrm>
          <a:prstGeom prst="ellipse">
            <a:avLst/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9120" y="251521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282952"/>
            <a:ext cx="13551408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Reset — the RoT verifies, then EXCHANGES the slots: the incoming image is decrypted, the outgoing one RE-ENCRYPTED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5840" y="2545080"/>
            <a:ext cx="5128260" cy="563880"/>
          </a:xfrm>
          <a:prstGeom prst="roundRect">
            <a:avLst>
              <a:gd name="adj" fmla="val 13513"/>
            </a:avLst>
          </a:prstGeom>
          <a:solidFill>
            <a:srgbClr val="E4F4FC"/>
          </a:solidFill>
          <a:ln w="18288">
            <a:solidFill>
              <a:srgbClr val="1B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92400" y="2633624"/>
            <a:ext cx="1355141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PRIMARY SLOT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42031" y="2855062"/>
            <a:ext cx="855878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B7CA8"/>
                </a:solidFill>
                <a:latin typeface="Segoe UI"/>
              </a:rPr>
              <a:t>NEW IMAGE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2545080"/>
            <a:ext cx="5128260" cy="563880"/>
          </a:xfrm>
          <a:prstGeom prst="roundRect">
            <a:avLst>
              <a:gd name="adj" fmla="val 13513"/>
            </a:avLst>
          </a:prstGeom>
          <a:pattFill prst="ltUpDiag">
            <a:fgClr>
              <a:srgbClr val="C6D0DB"/>
            </a:fgClr>
            <a:bgClr>
              <a:srgbClr val="EFF3F7"/>
            </a:bgClr>
          </a:pattFill>
          <a:ln w="18288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4411" y="2633624"/>
            <a:ext cx="1580998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SECONDARY SLOT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4520" y="2855062"/>
            <a:ext cx="760781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5B6B80"/>
                </a:solidFill>
                <a:latin typeface="Segoe UI"/>
              </a:rPr>
              <a:t>PREVIOUS</a:t>
            </a:r>
          </a:p>
        </p:txBody>
      </p:sp>
      <p:sp>
        <p:nvSpPr>
          <p:cNvPr id="24" name="Oval 23"/>
          <p:cNvSpPr/>
          <p:nvPr/>
        </p:nvSpPr>
        <p:spPr>
          <a:xfrm>
            <a:off x="571500" y="3314700"/>
            <a:ext cx="320040" cy="320040"/>
          </a:xfrm>
          <a:prstGeom prst="ellipse">
            <a:avLst/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9120" y="336865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3136392"/>
            <a:ext cx="3803904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The new firmware runs — on trial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" y="3413760"/>
            <a:ext cx="10363200" cy="731520"/>
          </a:xfrm>
          <a:prstGeom prst="roundRect">
            <a:avLst>
              <a:gd name="adj" fmla="val 10416"/>
            </a:avLst>
          </a:prstGeom>
          <a:solidFill>
            <a:srgbClr val="FDF1DE"/>
          </a:solidFill>
          <a:ln w="18288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34946" y="3509924"/>
            <a:ext cx="7904988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it must write the confirmation flag at 0x8BFE0  —  "I booted, keep me"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088" y="3754374"/>
            <a:ext cx="1020470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the last 32 bytes of the PRIMARY slot (0x8C000 − 0x20) — MCUboot's image_ok field; the final 16 bytes hold the trailer magic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348" y="3922014"/>
            <a:ext cx="1061618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the application writes one 16-byte programming unit there: 0x01 then zeros — FW_UPDATE_ValidAppImage(), menu "Validate app image"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187440" y="4358640"/>
            <a:ext cx="0" cy="198120"/>
          </a:xfrm>
          <a:prstGeom prst="line">
            <a:avLst/>
          </a:prstGeom>
          <a:ln w="19812">
            <a:solidFill>
              <a:srgbClr val="0323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3291840" y="4556760"/>
            <a:ext cx="2895600" cy="0"/>
          </a:xfrm>
          <a:prstGeom prst="line">
            <a:avLst/>
          </a:prstGeom>
          <a:ln w="19812">
            <a:solidFill>
              <a:srgbClr val="0323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291840" y="4556760"/>
            <a:ext cx="0" cy="243840"/>
          </a:xfrm>
          <a:prstGeom prst="line">
            <a:avLst/>
          </a:prstGeom>
          <a:ln w="19812">
            <a:solidFill>
              <a:srgbClr val="0323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187440" y="4556760"/>
            <a:ext cx="2895600" cy="0"/>
          </a:xfrm>
          <a:prstGeom prst="line">
            <a:avLst/>
          </a:prstGeom>
          <a:ln w="19812">
            <a:solidFill>
              <a:srgbClr val="0323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083040" y="4556760"/>
            <a:ext cx="0" cy="243840"/>
          </a:xfrm>
          <a:prstGeom prst="line">
            <a:avLst/>
          </a:prstGeom>
          <a:ln w="19812">
            <a:solidFill>
              <a:srgbClr val="0323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1005840" y="4831080"/>
            <a:ext cx="4572000" cy="1600200"/>
          </a:xfrm>
          <a:prstGeom prst="roundRect">
            <a:avLst>
              <a:gd name="adj" fmla="val 7619"/>
            </a:avLst>
          </a:prstGeom>
          <a:solidFill>
            <a:srgbClr val="E2F5EC"/>
          </a:solidFill>
          <a:ln w="19812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1289304" y="5135880"/>
            <a:ext cx="64008" cy="64008"/>
          </a:xfrm>
          <a:prstGeom prst="line">
            <a:avLst/>
          </a:prstGeom>
          <a:ln w="36576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353312" y="5062728"/>
            <a:ext cx="109728" cy="137160"/>
          </a:xfrm>
          <a:prstGeom prst="line">
            <a:avLst/>
          </a:prstGeom>
          <a:ln w="36576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600200" y="5018075"/>
            <a:ext cx="1230325" cy="3067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80" b="1">
                <a:solidFill>
                  <a:srgbClr val="03234B"/>
                </a:solidFill>
                <a:latin typeface="Segoe UI"/>
              </a:rPr>
              <a:t>Confirmed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59152" y="5339029"/>
            <a:ext cx="1865376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0">
                <a:solidFill>
                  <a:srgbClr val="5B6B80"/>
                </a:solidFill>
                <a:latin typeface="Segoe UI"/>
              </a:rPr>
              <a:t>the flag was written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234440" y="5623560"/>
            <a:ext cx="2004060" cy="472440"/>
          </a:xfrm>
          <a:prstGeom prst="roundRect">
            <a:avLst>
              <a:gd name="adj" fmla="val 16129"/>
            </a:avLst>
          </a:prstGeom>
          <a:solidFill>
            <a:srgbClr val="E2F5EC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841221" y="5666384"/>
            <a:ext cx="790499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PRIMARY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03628" y="5887822"/>
            <a:ext cx="665683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2A05C"/>
                </a:solidFill>
                <a:latin typeface="Segoe UI"/>
              </a:rPr>
              <a:t>RUNNING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345180" y="5623560"/>
            <a:ext cx="2004060" cy="472440"/>
          </a:xfrm>
          <a:prstGeom prst="roundRect">
            <a:avLst>
              <a:gd name="adj" fmla="val 16129"/>
            </a:avLst>
          </a:prstGeom>
          <a:pattFill prst="ltUpDiag">
            <a:fgClr>
              <a:srgbClr val="C6D0DB"/>
            </a:fgClr>
            <a:bgClr>
              <a:srgbClr val="EFF3F7"/>
            </a:bgClr>
          </a:pattFill>
          <a:ln w="18288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39032" y="5666384"/>
            <a:ext cx="1016356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SECONDARY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66820" y="5887822"/>
            <a:ext cx="760781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5B6B80"/>
                </a:solidFill>
                <a:latin typeface="Segoe UI"/>
              </a:rPr>
              <a:t>PREVIOUS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32990" y="6161989"/>
            <a:ext cx="17177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the update sticks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797040" y="4831080"/>
            <a:ext cx="4572000" cy="1600200"/>
          </a:xfrm>
          <a:prstGeom prst="roundRect">
            <a:avLst>
              <a:gd name="adj" fmla="val 7619"/>
            </a:avLst>
          </a:prstGeom>
          <a:solidFill>
            <a:srgbClr val="FBE7E8"/>
          </a:solidFill>
          <a:ln w="19812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7095744" y="5068824"/>
            <a:ext cx="134112" cy="134112"/>
          </a:xfrm>
          <a:prstGeom prst="line">
            <a:avLst/>
          </a:prstGeom>
          <a:ln w="33528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7095744" y="5068824"/>
            <a:ext cx="134112" cy="134112"/>
          </a:xfrm>
          <a:prstGeom prst="line">
            <a:avLst/>
          </a:prstGeom>
          <a:ln w="33528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391400" y="5018075"/>
            <a:ext cx="1777136" cy="3067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80" b="1">
                <a:solidFill>
                  <a:srgbClr val="03234B"/>
                </a:solidFill>
                <a:latin typeface="Segoe UI"/>
              </a:rPr>
              <a:t>Not confirmed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04202" y="5339029"/>
            <a:ext cx="3357677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0">
                <a:solidFill>
                  <a:srgbClr val="5B6B80"/>
                </a:solidFill>
                <a:latin typeface="Segoe UI"/>
              </a:rPr>
              <a:t>crash · hang · watchdog · power loss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025640" y="5623560"/>
            <a:ext cx="2004060" cy="472440"/>
          </a:xfrm>
          <a:prstGeom prst="roundRect">
            <a:avLst>
              <a:gd name="adj" fmla="val 16129"/>
            </a:avLst>
          </a:prstGeom>
          <a:solidFill>
            <a:srgbClr val="E2F5EC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32421" y="5666384"/>
            <a:ext cx="790499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PRIMARY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71792" y="5887822"/>
            <a:ext cx="1711757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2A05C"/>
                </a:solidFill>
                <a:latin typeface="Segoe UI"/>
              </a:rPr>
              <a:t>PREVIOUS, restored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136380" y="5623560"/>
            <a:ext cx="2004060" cy="472440"/>
          </a:xfrm>
          <a:prstGeom prst="roundRect">
            <a:avLst>
              <a:gd name="adj" fmla="val 16129"/>
            </a:avLst>
          </a:prstGeom>
          <a:pattFill prst="ltUpDiag">
            <a:fgClr>
              <a:srgbClr val="C6D0DB"/>
            </a:fgClr>
            <a:bgClr>
              <a:srgbClr val="EFF3F7"/>
            </a:bgClr>
          </a:pattFill>
          <a:ln w="18288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630232" y="5666384"/>
            <a:ext cx="1016356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SECONDARY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72727" y="5887822"/>
            <a:ext cx="133136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5B6B80"/>
                </a:solidFill>
                <a:latin typeface="Segoe UI"/>
              </a:rPr>
              <a:t>the failed one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54928" y="6161989"/>
            <a:ext cx="5456225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D0323C"/>
                </a:solidFill>
                <a:latin typeface="Segoe UI"/>
              </a:rPr>
              <a:t>the RoT swaps back by itself — no probe, no truck roll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7680" y="6558229"/>
            <a:ext cx="1566915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Two marks, two slots: the magic trailer at the end of the SECONDARY slot asks for an install; the confirm flag at the end of the PRIMARY slot keeps what is now running.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11518697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Bank swap (mirror) — move the map, not the firmware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9908438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One option-byte write instead of copying 464 KB. Install time drops to almost nothing.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03932" y="1581912"/>
            <a:ext cx="1545336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03234B"/>
                </a:solidFill>
                <a:latin typeface="Segoe UI"/>
              </a:rPr>
              <a:t>SWAP_BANK = 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1905000"/>
            <a:ext cx="2895600" cy="822960"/>
          </a:xfrm>
          <a:prstGeom prst="roundRect">
            <a:avLst>
              <a:gd name="adj" fmla="val 9259"/>
            </a:avLst>
          </a:prstGeom>
          <a:solidFill>
            <a:srgbClr val="E2F5EC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37815" y="2123084"/>
            <a:ext cx="677570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BANK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43758" y="2344522"/>
            <a:ext cx="665683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2A05C"/>
                </a:solidFill>
                <a:latin typeface="Segoe UI"/>
              </a:rPr>
              <a:t>RUNNING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2834640"/>
            <a:ext cx="2895600" cy="822960"/>
          </a:xfrm>
          <a:prstGeom prst="roundRect">
            <a:avLst>
              <a:gd name="adj" fmla="val 9259"/>
            </a:avLst>
          </a:prstGeom>
          <a:solidFill>
            <a:srgbClr val="E4F4FC"/>
          </a:solidFill>
          <a:ln w="18288">
            <a:solidFill>
              <a:srgbClr val="1B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37815" y="3052724"/>
            <a:ext cx="677570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BANK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48661" y="3274162"/>
            <a:ext cx="855878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B7CA8"/>
                </a:solidFill>
                <a:latin typeface="Segoe UI"/>
              </a:rPr>
              <a:t>NEW IMAGE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160" y="2199894"/>
            <a:ext cx="82296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Consolas"/>
              </a:rPr>
              <a:t>0x08000000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9160" y="3129534"/>
            <a:ext cx="82296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Consolas"/>
              </a:rPr>
              <a:t>0x08080000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42732" y="1581912"/>
            <a:ext cx="1545336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03234B"/>
                </a:solidFill>
                <a:latin typeface="Segoe UI"/>
              </a:rPr>
              <a:t>SWAP_BANK =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67600" y="1905000"/>
            <a:ext cx="2895600" cy="822960"/>
          </a:xfrm>
          <a:prstGeom prst="roundRect">
            <a:avLst>
              <a:gd name="adj" fmla="val 9259"/>
            </a:avLst>
          </a:prstGeom>
          <a:solidFill>
            <a:srgbClr val="E2F5EC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76615" y="2123084"/>
            <a:ext cx="677570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BANK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2558" y="2344522"/>
            <a:ext cx="665683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2A05C"/>
                </a:solidFill>
                <a:latin typeface="Segoe UI"/>
              </a:rPr>
              <a:t>RUNNING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67600" y="2834640"/>
            <a:ext cx="2895600" cy="822960"/>
          </a:xfrm>
          <a:prstGeom prst="roundRect">
            <a:avLst>
              <a:gd name="adj" fmla="val 9259"/>
            </a:avLst>
          </a:prstGeom>
          <a:pattFill prst="ltUpDiag">
            <a:fgClr>
              <a:srgbClr val="C6D0DB"/>
            </a:fgClr>
            <a:bgClr>
              <a:srgbClr val="EFF3F7"/>
            </a:bgClr>
          </a:pattFill>
          <a:ln w="18288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76615" y="3052724"/>
            <a:ext cx="677570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BANK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35010" y="3274162"/>
            <a:ext cx="760781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5B6B80"/>
                </a:solidFill>
                <a:latin typeface="Segoe UI"/>
              </a:rPr>
              <a:t>PREVIOUS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4876800" y="2767015"/>
            <a:ext cx="173111" cy="6665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5049911" y="2748354"/>
            <a:ext cx="162080" cy="18661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5211991" y="2719696"/>
            <a:ext cx="154016" cy="28658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5366007" y="2683040"/>
            <a:ext cx="148918" cy="36656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514925" y="2640386"/>
            <a:ext cx="146785" cy="42654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5661710" y="2593732"/>
            <a:ext cx="147618" cy="46654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5809328" y="2545080"/>
            <a:ext cx="151417" cy="48652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960745" y="2496428"/>
            <a:ext cx="158182" cy="48652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6118927" y="2449774"/>
            <a:ext cx="167912" cy="46654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286839" y="2407120"/>
            <a:ext cx="180608" cy="42654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6467447" y="2370464"/>
            <a:ext cx="196271" cy="36656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6663718" y="2341806"/>
            <a:ext cx="214898" cy="28658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6878616" y="2323145"/>
            <a:ext cx="236492" cy="18661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7115108" y="2316480"/>
            <a:ext cx="261052" cy="6665"/>
          </a:xfrm>
          <a:prstGeom prst="line">
            <a:avLst/>
          </a:prstGeom>
          <a:ln w="25908">
            <a:solidFill>
              <a:srgbClr val="6B5B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4876800" y="3321209"/>
            <a:ext cx="173111" cy="1111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5049911" y="3318099"/>
            <a:ext cx="162080" cy="3110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211991" y="3313323"/>
            <a:ext cx="154016" cy="4776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5366007" y="3307213"/>
            <a:ext cx="148918" cy="6110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514925" y="3300104"/>
            <a:ext cx="146785" cy="7109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5661710" y="3292329"/>
            <a:ext cx="147618" cy="7775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5809328" y="3284220"/>
            <a:ext cx="151417" cy="8109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5960745" y="3276111"/>
            <a:ext cx="158182" cy="8109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6118927" y="3268336"/>
            <a:ext cx="167912" cy="7775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6286839" y="3261227"/>
            <a:ext cx="180608" cy="7109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6467447" y="3255117"/>
            <a:ext cx="196271" cy="6110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6663718" y="3250341"/>
            <a:ext cx="214898" cy="4776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6878616" y="3247231"/>
            <a:ext cx="236492" cy="3110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7115108" y="3246120"/>
            <a:ext cx="261052" cy="1111"/>
          </a:xfrm>
          <a:prstGeom prst="line">
            <a:avLst/>
          </a:prstGeom>
          <a:ln w="25908">
            <a:solidFill>
              <a:srgbClr val="6B5B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4953000" y="2834640"/>
            <a:ext cx="1676400" cy="426720"/>
          </a:xfrm>
          <a:prstGeom prst="roundRect">
            <a:avLst>
              <a:gd name="adj" fmla="val 25000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92675" y="2908402"/>
            <a:ext cx="1997050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FFFFFF"/>
                </a:solidFill>
                <a:latin typeface="Segoe UI"/>
              </a:rPr>
              <a:t>write one option byte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58358" y="3068422"/>
            <a:ext cx="665683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FFFFFF"/>
                </a:solidFill>
                <a:latin typeface="Segoe UI"/>
              </a:rPr>
              <a:t>+ reset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828800" y="4130040"/>
            <a:ext cx="4267200" cy="1143000"/>
          </a:xfrm>
          <a:prstGeom prst="roundRect">
            <a:avLst>
              <a:gd name="adj" fmla="val 10666"/>
            </a:avLst>
          </a:prstGeom>
          <a:solidFill>
            <a:srgbClr val="E2F5EC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103882" y="4450080"/>
            <a:ext cx="58674" cy="58674"/>
          </a:xfrm>
          <a:prstGeom prst="line">
            <a:avLst/>
          </a:prstGeom>
          <a:ln w="33528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162556" y="4383024"/>
            <a:ext cx="100584" cy="125730"/>
          </a:xfrm>
          <a:prstGeom prst="line">
            <a:avLst/>
          </a:prstGeom>
          <a:ln w="33528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2377440" y="4347820"/>
            <a:ext cx="1622603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1">
                <a:solidFill>
                  <a:srgbClr val="03234B"/>
                </a:solidFill>
                <a:latin typeface="Segoe UI"/>
              </a:rPr>
              <a:t>What you gain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03120" y="4637989"/>
            <a:ext cx="3637483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install time ≈ 0 — nothing is copied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03120" y="4836109"/>
            <a:ext cx="3637483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revert is another flip, just as fast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034229"/>
            <a:ext cx="3450946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flash wear drops to almost nothing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400800" y="4130040"/>
            <a:ext cx="5334000" cy="1143000"/>
          </a:xfrm>
          <a:prstGeom prst="roundRect">
            <a:avLst>
              <a:gd name="adj" fmla="val 10666"/>
            </a:avLst>
          </a:prstGeom>
          <a:solidFill>
            <a:srgbClr val="FBE7E8"/>
          </a:solidFill>
          <a:ln w="18288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6690360" y="4389120"/>
            <a:ext cx="121920" cy="121920"/>
          </a:xfrm>
          <a:prstGeom prst="line">
            <a:avLst/>
          </a:prstGeom>
          <a:ln w="30480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6690360" y="4389120"/>
            <a:ext cx="121920" cy="121920"/>
          </a:xfrm>
          <a:prstGeom prst="line">
            <a:avLst/>
          </a:prstGeom>
          <a:ln w="30480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949440" y="4347820"/>
            <a:ext cx="3744468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1">
                <a:solidFill>
                  <a:srgbClr val="03234B"/>
                </a:solidFill>
                <a:latin typeface="Segoe UI"/>
              </a:rPr>
              <a:t>The catch you must solve first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75120" y="4645762"/>
            <a:ext cx="5003597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SWAP_BANK exchanges the WHOLE map — including 0x08000000,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675120" y="4843882"/>
            <a:ext cx="5530291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where the immutable RoT itself lives. The bootloader moves too.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75120" y="5042002"/>
            <a:ext cx="5530291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Usual answer: an identical, write-protected copy in both banks.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828800" y="5501640"/>
            <a:ext cx="9906000" cy="457200"/>
          </a:xfrm>
          <a:prstGeom prst="roundRect">
            <a:avLst>
              <a:gd name="adj" fmla="val 23333"/>
            </a:avLst>
          </a:prstGeom>
          <a:solidFill>
            <a:srgbClr val="FDF1DE"/>
          </a:solidFill>
          <a:ln w="18288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474165" y="5643524"/>
            <a:ext cx="10615270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Status: not implemented in this repository — SWAP_BANK exists only as an option byte set to 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11292840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Bank swap — what you would actually have to mirror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10023653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The flip moves every address, so anything at a fixed address needs a copy in both banks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80" y="1231392"/>
            <a:ext cx="3685032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What needs a copy in both banks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7680" y="1524000"/>
            <a:ext cx="6858000" cy="426720"/>
          </a:xfrm>
          <a:prstGeom prst="roundRect">
            <a:avLst>
              <a:gd name="adj" fmla="val 17857"/>
            </a:avLst>
          </a:prstGeom>
          <a:solidFill>
            <a:srgbClr val="FBE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87680" y="1524000"/>
            <a:ext cx="53340" cy="426720"/>
          </a:xfrm>
          <a:prstGeom prst="roundRect">
            <a:avLst>
              <a:gd name="adj" fmla="val 50000"/>
            </a:avLst>
          </a:prstGeom>
          <a:solidFill>
            <a:srgbClr val="D0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0560" y="1574749"/>
            <a:ext cx="1616659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Bootloader (RoT)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0560" y="1765706"/>
            <a:ext cx="6605626" cy="186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40" b="0">
                <a:solidFill>
                  <a:srgbClr val="5B6B80"/>
                </a:solidFill>
                <a:latin typeface="Segoe UI"/>
              </a:rPr>
              <a:t>the flip moves 0x08000000, so whichever bank lands low needs a working RoT at offset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20996" y="1590294"/>
            <a:ext cx="231800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900" b="1">
                <a:solidFill>
                  <a:srgbClr val="D0323C"/>
                </a:solidFill>
                <a:latin typeface="Segoe UI"/>
              </a:rPr>
              <a:t>YES — two identical copies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7680" y="1996440"/>
            <a:ext cx="6858000" cy="426720"/>
          </a:xfrm>
          <a:prstGeom prst="roundRect">
            <a:avLst>
              <a:gd name="adj" fmla="val 17857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87680" y="1996440"/>
            <a:ext cx="53340" cy="426720"/>
          </a:xfrm>
          <a:prstGeom prst="roundRect">
            <a:avLst>
              <a:gd name="adj" fmla="val 50000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0560" y="2047189"/>
            <a:ext cx="1111453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Application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0560" y="2238146"/>
            <a:ext cx="5760720" cy="186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40" b="0">
                <a:solidFill>
                  <a:srgbClr val="5B6B80"/>
                </a:solidFill>
                <a:latin typeface="Segoe UI"/>
              </a:rPr>
              <a:t>the two banks hold DIFFERENT images, new and old — that is the entire 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34200" y="2062734"/>
            <a:ext cx="30480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900" b="1">
                <a:solidFill>
                  <a:srgbClr val="12A05C"/>
                </a:solidFill>
                <a:latin typeface="Segoe UI"/>
              </a:rPr>
              <a:t>NO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7680" y="2468880"/>
            <a:ext cx="6858000" cy="426720"/>
          </a:xfrm>
          <a:prstGeom prst="roundRect">
            <a:avLst>
              <a:gd name="adj" fmla="val 17857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7680" y="2468880"/>
            <a:ext cx="53340" cy="426720"/>
          </a:xfrm>
          <a:prstGeom prst="roundRect">
            <a:avLst>
              <a:gd name="adj" fmla="val 50000"/>
            </a:avLst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560" y="2519629"/>
            <a:ext cx="2728112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Keys (pubkey hash, enc key)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0560" y="2710586"/>
            <a:ext cx="5376672" cy="186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40" b="0">
                <a:solidFill>
                  <a:srgbClr val="5B6B80"/>
                </a:solidFill>
                <a:latin typeface="Segoe UI"/>
              </a:rPr>
              <a:t>they never change after provisioning, so the two copies stay identical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01690" y="2535174"/>
            <a:ext cx="133731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900" b="1">
                <a:solidFill>
                  <a:srgbClr val="E08A1E"/>
                </a:solidFill>
                <a:latin typeface="Segoe UI"/>
              </a:rPr>
              <a:t>yes, harmlessly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7680" y="2941320"/>
            <a:ext cx="6858000" cy="426720"/>
          </a:xfrm>
          <a:prstGeom prst="roundRect">
            <a:avLst>
              <a:gd name="adj" fmla="val 17857"/>
            </a:avLst>
          </a:prstGeom>
          <a:solidFill>
            <a:srgbClr val="FBE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87680" y="2941320"/>
            <a:ext cx="53340" cy="426720"/>
          </a:xfrm>
          <a:prstGeom prst="roundRect">
            <a:avLst>
              <a:gd name="adj" fmla="val 50000"/>
            </a:avLst>
          </a:prstGeom>
          <a:solidFill>
            <a:srgbClr val="D0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560" y="2992069"/>
            <a:ext cx="2728112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NV counters (anti-rollback)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560" y="3183026"/>
            <a:ext cx="3456432" cy="186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40" b="0">
                <a:solidFill>
                  <a:srgbClr val="5B6B80"/>
                </a:solidFill>
                <a:latin typeface="Segoe UI"/>
              </a:rPr>
              <a:t>written at runtime, so the copies drift apart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31842" y="3007614"/>
            <a:ext cx="2407158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900" b="1">
                <a:solidFill>
                  <a:srgbClr val="D0323C"/>
                </a:solidFill>
                <a:latin typeface="Segoe UI"/>
              </a:rPr>
              <a:t>yes — and that is a problem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7680" y="3413760"/>
            <a:ext cx="6858000" cy="426720"/>
          </a:xfrm>
          <a:prstGeom prst="roundRect">
            <a:avLst>
              <a:gd name="adj" fmla="val 17857"/>
            </a:avLst>
          </a:prstGeom>
          <a:solidFill>
            <a:srgbClr val="FBE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87680" y="3413760"/>
            <a:ext cx="53340" cy="426720"/>
          </a:xfrm>
          <a:prstGeom prst="roundRect">
            <a:avLst>
              <a:gd name="adj" fmla="val 50000"/>
            </a:avLst>
          </a:prstGeom>
          <a:solidFill>
            <a:srgbClr val="D0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0560" y="3464509"/>
            <a:ext cx="151561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Hash references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0560" y="3655466"/>
            <a:ext cx="4762195" cy="186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40" b="0">
                <a:solidFill>
                  <a:srgbClr val="5B6B80"/>
                </a:solidFill>
                <a:latin typeface="Segoe UI"/>
              </a:rPr>
              <a:t>the inactive bank's cache does not match the image now running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77612" y="3480054"/>
            <a:ext cx="1961388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900" b="1">
                <a:solidFill>
                  <a:srgbClr val="D0323C"/>
                </a:solidFill>
                <a:latin typeface="Segoe UI"/>
              </a:rPr>
              <a:t>yes, and they go stale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7680" y="3886200"/>
            <a:ext cx="6858000" cy="426720"/>
          </a:xfrm>
          <a:prstGeom prst="roundRect">
            <a:avLst>
              <a:gd name="adj" fmla="val 17857"/>
            </a:avLst>
          </a:prstGeom>
          <a:solidFill>
            <a:srgbClr val="FBE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87680" y="3886200"/>
            <a:ext cx="53340" cy="426720"/>
          </a:xfrm>
          <a:prstGeom prst="roundRect">
            <a:avLst>
              <a:gd name="adj" fmla="val 50000"/>
            </a:avLst>
          </a:prstGeom>
          <a:solidFill>
            <a:srgbClr val="D0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0560" y="3936949"/>
            <a:ext cx="2020824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Calibration / config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0560" y="4127906"/>
            <a:ext cx="5607101" cy="186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40" b="0">
                <a:solidFill>
                  <a:srgbClr val="5B6B80"/>
                </a:solidFill>
                <a:latin typeface="Segoe UI"/>
              </a:rPr>
              <a:t>the APPLICATION writes it, so a write after a flip lands in one bank only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90844" y="3952494"/>
            <a:ext cx="1248156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900" b="1">
                <a:solidFill>
                  <a:srgbClr val="D0323C"/>
                </a:solidFill>
                <a:latin typeface="Segoe UI"/>
              </a:rPr>
              <a:t>yes, and worse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87680" y="4358640"/>
            <a:ext cx="6858000" cy="426720"/>
          </a:xfrm>
          <a:prstGeom prst="roundRect">
            <a:avLst>
              <a:gd name="adj" fmla="val 17857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87680" y="4358640"/>
            <a:ext cx="53340" cy="426720"/>
          </a:xfrm>
          <a:prstGeom prst="roundRect">
            <a:avLst>
              <a:gd name="adj" fmla="val 50000"/>
            </a:avLst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0560" y="4409389"/>
            <a:ext cx="2020824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Install-request flag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0560" y="4600346"/>
            <a:ext cx="3840480" cy="186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40" b="0">
                <a:solidFill>
                  <a:srgbClr val="5B6B80"/>
                </a:solidFill>
                <a:latin typeface="Segoe UI"/>
              </a:rPr>
              <a:t>no "secondary slot" to put a trailer at the end of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20996" y="4424934"/>
            <a:ext cx="231800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900" b="1">
                <a:solidFill>
                  <a:srgbClr val="E08A1E"/>
                </a:solidFill>
                <a:latin typeface="Segoe UI"/>
              </a:rPr>
              <a:t>mechanism changes entirely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59040" y="1524000"/>
            <a:ext cx="4145280" cy="1722120"/>
          </a:xfrm>
          <a:prstGeom prst="roundRect">
            <a:avLst>
              <a:gd name="adj" fmla="val 7079"/>
            </a:avLst>
          </a:prstGeom>
          <a:solidFill>
            <a:srgbClr val="FBE7E8"/>
          </a:solidFill>
          <a:ln w="18288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41920" y="1665580"/>
            <a:ext cx="312039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1">
                <a:solidFill>
                  <a:srgbClr val="D0323C"/>
                </a:solidFill>
                <a:latin typeface="Segoe UI"/>
              </a:rPr>
              <a:t>The mutable-state problem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41920" y="1971294"/>
            <a:ext cx="403250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Duplicating something that never changes is free.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41920" y="2131314"/>
            <a:ext cx="411480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Duplicating something written at runtime means the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41920" y="2291334"/>
            <a:ext cx="4361688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two copies diverge — and after a flip you are looking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41920" y="2451354"/>
            <a:ext cx="139903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at the stale one.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41920" y="2771394"/>
            <a:ext cx="4197096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For calibration that is an annoyance. For the anti-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41920" y="2931414"/>
            <a:ext cx="4197096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rollback counter it is a SECURITY HOLE: flip to the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41920" y="3091434"/>
            <a:ext cx="4197096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bank holding the older counter and the floor drops.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559040" y="3398520"/>
            <a:ext cx="4145280" cy="2011680"/>
          </a:xfrm>
          <a:prstGeom prst="roundRect">
            <a:avLst>
              <a:gd name="adj" fmla="val 6060"/>
            </a:avLst>
          </a:prstGeom>
          <a:solidFill>
            <a:srgbClr val="FFFFFF"/>
          </a:solidFill>
          <a:ln w="18288">
            <a:solidFill>
              <a:srgbClr val="032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41920" y="3540100"/>
            <a:ext cx="424373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1">
                <a:solidFill>
                  <a:srgbClr val="03234B"/>
                </a:solidFill>
                <a:latin typeface="Segoe UI"/>
              </a:rPr>
              <a:t>And it costs you application space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41920" y="3891229"/>
            <a:ext cx="1414577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Dual-slot swap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730941" y="3875684"/>
            <a:ext cx="790499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40" b="1">
                <a:solidFill>
                  <a:srgbClr val="12A05C"/>
                </a:solidFill>
                <a:latin typeface="Segoe UI"/>
              </a:rPr>
              <a:t>~456 KB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741920" y="4114800"/>
            <a:ext cx="3666939" cy="182880"/>
          </a:xfrm>
          <a:prstGeom prst="roundRect">
            <a:avLst>
              <a:gd name="adj" fmla="val 25000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741920" y="4310786"/>
            <a:ext cx="1766621" cy="186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40" b="0">
                <a:solidFill>
                  <a:srgbClr val="5B6B80"/>
                </a:solidFill>
                <a:latin typeface="Segoe UI"/>
              </a:rPr>
              <a:t>one RoT, shared — 96 KB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41920" y="4485589"/>
            <a:ext cx="909371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Bank swap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730941" y="4470044"/>
            <a:ext cx="790499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40" b="1">
                <a:solidFill>
                  <a:srgbClr val="1B7CA8"/>
                </a:solidFill>
                <a:latin typeface="Segoe UI"/>
              </a:rPr>
              <a:t>~416 KB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741920" y="4709160"/>
            <a:ext cx="3345277" cy="182880"/>
          </a:xfrm>
          <a:prstGeom prst="roundRect">
            <a:avLst>
              <a:gd name="adj" fmla="val 25000"/>
            </a:avLst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741920" y="4905146"/>
            <a:ext cx="1920240" cy="186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40" b="0">
                <a:solidFill>
                  <a:srgbClr val="5B6B80"/>
                </a:solidFill>
                <a:latin typeface="Segoe UI"/>
              </a:rPr>
              <a:t>two RoTs — 96 KB per bank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0" y="5148682"/>
            <a:ext cx="4184294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1">
                <a:solidFill>
                  <a:srgbClr val="D0323C"/>
                </a:solidFill>
                <a:latin typeface="Segoe UI"/>
              </a:rPr>
              <a:t>→ ~40 KB LESS for the application, not more.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87680" y="5532120"/>
            <a:ext cx="11216640" cy="441960"/>
          </a:xfrm>
          <a:prstGeom prst="roundRect">
            <a:avLst>
              <a:gd name="adj" fmla="val 20689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-453847" y="5658764"/>
            <a:ext cx="13099694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FFFFFF"/>
                </a:solidFill>
                <a:latin typeface="Segoe UI"/>
              </a:rPr>
              <a:t>Faster install · smaller application · harder to get right. Worth it only if install duration is a hard requirement.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7680" y="6154522"/>
            <a:ext cx="1264066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There is no "outside the swapped region" to escape to either — SWAP_BANK exchanges the whole user flash. The realistic homes for device data are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7680" y="6352642"/>
            <a:ext cx="13781837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external EEPROM or flash, or bank-aware addressing that always reaches the physical bank — if this part exposes such a view. Confirm in the reference manual.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6775704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Four ways to arrange the flash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8525866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Same bootloader (navy), same cryptography — only the slot strategy changes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7680" y="1371600"/>
            <a:ext cx="2712720" cy="358140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8288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87680" y="1371600"/>
            <a:ext cx="2712720" cy="45720"/>
          </a:xfrm>
          <a:prstGeom prst="roundRect">
            <a:avLst>
              <a:gd name="adj" fmla="val 50000"/>
            </a:avLst>
          </a:prstGeom>
          <a:solidFill>
            <a:srgbClr val="D0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57554" y="1558900"/>
            <a:ext cx="1372972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03234B"/>
                </a:solidFill>
                <a:latin typeface="Segoe UI"/>
              </a:rPr>
              <a:t>SINGLE SLOT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0808" y="1795882"/>
            <a:ext cx="1426464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D0323C"/>
                </a:solidFill>
                <a:latin typeface="Segoe UI"/>
              </a:rPr>
              <a:t>no field update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1040" y="2133600"/>
            <a:ext cx="214312" cy="472440"/>
          </a:xfrm>
          <a:prstGeom prst="roundRect">
            <a:avLst>
              <a:gd name="adj" fmla="val 21333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5352" y="2133600"/>
            <a:ext cx="2071688" cy="472440"/>
          </a:xfrm>
          <a:prstGeom prst="roundRect">
            <a:avLst>
              <a:gd name="adj" fmla="val 9677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93539" y="2314346"/>
            <a:ext cx="915314" cy="186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840" b="1">
                <a:solidFill>
                  <a:srgbClr val="FFFFFF"/>
                </a:solidFill>
                <a:latin typeface="Segoe UI"/>
              </a:rPr>
              <a:t>APPLICATION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220" y="3342284"/>
            <a:ext cx="2145640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~925 KB for the 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2869" y="3655162"/>
            <a:ext cx="228234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0">
                <a:solidFill>
                  <a:srgbClr val="5B6B80"/>
                </a:solidFill>
                <a:latin typeface="Segoe UI"/>
              </a:rPr>
              <a:t>a probe is the only way in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4192" y="4066032"/>
            <a:ext cx="97536" cy="97536"/>
          </a:xfrm>
          <a:prstGeom prst="line">
            <a:avLst/>
          </a:prstGeom>
          <a:ln w="24384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774192" y="4066032"/>
            <a:ext cx="97536" cy="97536"/>
          </a:xfrm>
          <a:prstGeom prst="line">
            <a:avLst/>
          </a:prstGeom>
          <a:ln w="24384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05840" y="4043782"/>
            <a:ext cx="96560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auto-revert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74192" y="4340352"/>
            <a:ext cx="97536" cy="97536"/>
          </a:xfrm>
          <a:prstGeom prst="line">
            <a:avLst/>
          </a:prstGeom>
          <a:ln w="24384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774192" y="4340352"/>
            <a:ext cx="97536" cy="97536"/>
          </a:xfrm>
          <a:prstGeom prst="line">
            <a:avLst/>
          </a:prstGeom>
          <a:ln w="24384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4318102"/>
            <a:ext cx="1053389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field update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4667" y="4663440"/>
            <a:ext cx="45339" cy="45339"/>
          </a:xfrm>
          <a:prstGeom prst="line">
            <a:avLst/>
          </a:prstGeom>
          <a:ln w="25908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10006" y="4611624"/>
            <a:ext cx="77724" cy="97155"/>
          </a:xfrm>
          <a:prstGeom prst="line">
            <a:avLst/>
          </a:prstGeom>
          <a:ln w="25908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592422"/>
            <a:ext cx="1492301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no extra hardware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44240" y="1371600"/>
            <a:ext cx="2712720" cy="358140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8288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444240" y="1371600"/>
            <a:ext cx="2712720" cy="45720"/>
          </a:xfrm>
          <a:prstGeom prst="roundRect">
            <a:avLst>
              <a:gd name="adj" fmla="val 50000"/>
            </a:avLst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02075" y="1558900"/>
            <a:ext cx="199705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03234B"/>
                </a:solidFill>
                <a:latin typeface="Segoe UI"/>
              </a:rPr>
              <a:t>DUAL — OVERWRITE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5112" y="1795882"/>
            <a:ext cx="95097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E08A1E"/>
                </a:solidFill>
                <a:latin typeface="Segoe UI"/>
              </a:rPr>
              <a:t>runs today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0" y="2133600"/>
            <a:ext cx="214312" cy="472440"/>
          </a:xfrm>
          <a:prstGeom prst="roundRect">
            <a:avLst>
              <a:gd name="adj" fmla="val 21333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871912" y="2133600"/>
            <a:ext cx="1035844" cy="472440"/>
          </a:xfrm>
          <a:prstGeom prst="roundRect">
            <a:avLst>
              <a:gd name="adj" fmla="val 9677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98598" y="2314346"/>
            <a:ext cx="582473" cy="186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840" b="1">
                <a:solidFill>
                  <a:srgbClr val="FFFFFF"/>
                </a:solidFill>
                <a:latin typeface="Segoe UI"/>
              </a:rPr>
              <a:t>PRIMARY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07756" y="2133600"/>
            <a:ext cx="1035844" cy="472440"/>
          </a:xfrm>
          <a:prstGeom prst="roundRect">
            <a:avLst>
              <a:gd name="adj" fmla="val 9677"/>
            </a:avLst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51231" y="2314346"/>
            <a:ext cx="748894" cy="186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840" b="1">
                <a:solidFill>
                  <a:srgbClr val="FFFFFF"/>
                </a:solidFill>
                <a:latin typeface="Segoe UI"/>
              </a:rPr>
              <a:t>SECONDARY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27780" y="3342284"/>
            <a:ext cx="2145640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~464 KB for the app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71646" y="3655162"/>
            <a:ext cx="2457907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0">
                <a:solidFill>
                  <a:srgbClr val="5B6B80"/>
                </a:solidFill>
                <a:latin typeface="Segoe UI"/>
              </a:rPr>
              <a:t>no way back from a bad image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730752" y="4066032"/>
            <a:ext cx="97536" cy="97536"/>
          </a:xfrm>
          <a:prstGeom prst="line">
            <a:avLst/>
          </a:prstGeom>
          <a:ln w="24384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3730752" y="4066032"/>
            <a:ext cx="97536" cy="97536"/>
          </a:xfrm>
          <a:prstGeom prst="line">
            <a:avLst/>
          </a:prstGeom>
          <a:ln w="24384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962400" y="4043782"/>
            <a:ext cx="96560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auto-revert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3721227" y="4389120"/>
            <a:ext cx="45339" cy="45339"/>
          </a:xfrm>
          <a:prstGeom prst="line">
            <a:avLst/>
          </a:prstGeom>
          <a:ln w="25908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766566" y="4337304"/>
            <a:ext cx="77724" cy="97155"/>
          </a:xfrm>
          <a:prstGeom prst="line">
            <a:avLst/>
          </a:prstGeom>
          <a:ln w="25908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3962400" y="4318102"/>
            <a:ext cx="1053389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field update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721227" y="4663440"/>
            <a:ext cx="45339" cy="45339"/>
          </a:xfrm>
          <a:prstGeom prst="line">
            <a:avLst/>
          </a:prstGeom>
          <a:ln w="25908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766566" y="4611624"/>
            <a:ext cx="77724" cy="97155"/>
          </a:xfrm>
          <a:prstGeom prst="line">
            <a:avLst/>
          </a:prstGeom>
          <a:ln w="25908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962400" y="4592422"/>
            <a:ext cx="1492301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no extra hardware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0" y="1371600"/>
            <a:ext cx="2712720" cy="358140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8288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400800" y="1371600"/>
            <a:ext cx="2712720" cy="45720"/>
          </a:xfrm>
          <a:prstGeom prst="roundRect">
            <a:avLst>
              <a:gd name="adj" fmla="val 50000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70674" y="1558900"/>
            <a:ext cx="1372972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03234B"/>
                </a:solidFill>
                <a:latin typeface="Segoe UI"/>
              </a:rPr>
              <a:t>DUAL — SWAP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34123" y="1795882"/>
            <a:ext cx="1046074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2A05C"/>
                </a:solidFill>
                <a:latin typeface="Segoe UI"/>
              </a:rPr>
              <a:t>auto-revert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14160" y="2133600"/>
            <a:ext cx="214312" cy="472440"/>
          </a:xfrm>
          <a:prstGeom prst="roundRect">
            <a:avLst>
              <a:gd name="adj" fmla="val 21333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828472" y="2133600"/>
            <a:ext cx="1035844" cy="472440"/>
          </a:xfrm>
          <a:prstGeom prst="roundRect">
            <a:avLst>
              <a:gd name="adj" fmla="val 9677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055158" y="2314346"/>
            <a:ext cx="582473" cy="186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840" b="1">
                <a:solidFill>
                  <a:srgbClr val="FFFFFF"/>
                </a:solidFill>
                <a:latin typeface="Segoe UI"/>
              </a:rPr>
              <a:t>PRIMARY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64316" y="2133600"/>
            <a:ext cx="1035844" cy="472440"/>
          </a:xfrm>
          <a:prstGeom prst="roundRect">
            <a:avLst>
              <a:gd name="adj" fmla="val 9677"/>
            </a:avLst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007791" y="2314346"/>
            <a:ext cx="748894" cy="186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840" b="1">
                <a:solidFill>
                  <a:srgbClr val="FFFFFF"/>
                </a:solidFill>
                <a:latin typeface="Segoe UI"/>
              </a:rPr>
              <a:t>SECONDARY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84340" y="3342284"/>
            <a:ext cx="2145640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~460 KB for the app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15989" y="3655162"/>
            <a:ext cx="228234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0">
                <a:solidFill>
                  <a:srgbClr val="5B6B80"/>
                </a:solidFill>
                <a:latin typeface="Segoe UI"/>
              </a:rPr>
              <a:t>the old image is preserved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6677787" y="4114800"/>
            <a:ext cx="45339" cy="45339"/>
          </a:xfrm>
          <a:prstGeom prst="line">
            <a:avLst/>
          </a:prstGeom>
          <a:ln w="25908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6723126" y="4062984"/>
            <a:ext cx="77724" cy="97155"/>
          </a:xfrm>
          <a:prstGeom prst="line">
            <a:avLst/>
          </a:prstGeom>
          <a:ln w="25908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918960" y="4043782"/>
            <a:ext cx="96560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auto-revert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677787" y="4389120"/>
            <a:ext cx="45339" cy="45339"/>
          </a:xfrm>
          <a:prstGeom prst="line">
            <a:avLst/>
          </a:prstGeom>
          <a:ln w="25908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6723126" y="4337304"/>
            <a:ext cx="77724" cy="97155"/>
          </a:xfrm>
          <a:prstGeom prst="line">
            <a:avLst/>
          </a:prstGeom>
          <a:ln w="25908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6918960" y="4318102"/>
            <a:ext cx="1053389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field update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677787" y="4663440"/>
            <a:ext cx="45339" cy="45339"/>
          </a:xfrm>
          <a:prstGeom prst="line">
            <a:avLst/>
          </a:prstGeom>
          <a:ln w="25908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6723126" y="4611624"/>
            <a:ext cx="77724" cy="97155"/>
          </a:xfrm>
          <a:prstGeom prst="line">
            <a:avLst/>
          </a:prstGeom>
          <a:ln w="25908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918960" y="4592422"/>
            <a:ext cx="1492301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no extra hardware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357360" y="1371600"/>
            <a:ext cx="2712720" cy="358140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8288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9357360" y="1371600"/>
            <a:ext cx="2712720" cy="45720"/>
          </a:xfrm>
          <a:prstGeom prst="roundRect">
            <a:avLst>
              <a:gd name="adj" fmla="val 50000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52787" y="1558900"/>
            <a:ext cx="2121865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03234B"/>
                </a:solidFill>
                <a:latin typeface="Segoe UI"/>
              </a:rPr>
              <a:t>EXTERNAL DOWNLOAD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80878" y="1795882"/>
            <a:ext cx="665683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2A05C"/>
                </a:solidFill>
                <a:latin typeface="Segoe UI"/>
              </a:rPr>
              <a:t>big app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570720" y="2133600"/>
            <a:ext cx="214312" cy="472440"/>
          </a:xfrm>
          <a:prstGeom prst="roundRect">
            <a:avLst>
              <a:gd name="adj" fmla="val 21333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9785032" y="2133600"/>
            <a:ext cx="2071688" cy="472440"/>
          </a:xfrm>
          <a:prstGeom prst="roundRect">
            <a:avLst>
              <a:gd name="adj" fmla="val 9677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363219" y="2314346"/>
            <a:ext cx="915314" cy="186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840" b="1">
                <a:solidFill>
                  <a:srgbClr val="FFFFFF"/>
                </a:solidFill>
                <a:latin typeface="Segoe UI"/>
              </a:rPr>
              <a:t>APPLICATION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570720" y="2758440"/>
            <a:ext cx="2286000" cy="411480"/>
          </a:xfrm>
          <a:prstGeom prst="roundRect">
            <a:avLst>
              <a:gd name="adj" fmla="val 14814"/>
            </a:avLst>
          </a:prstGeom>
          <a:solidFill>
            <a:srgbClr val="E4F4FC"/>
          </a:solidFill>
          <a:ln w="16764">
            <a:solidFill>
              <a:srgbClr val="1B7C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000488" y="2824734"/>
            <a:ext cx="142646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1">
                <a:solidFill>
                  <a:srgbClr val="1B7CA8"/>
                </a:solidFill>
                <a:latin typeface="Segoe UI"/>
              </a:rPr>
              <a:t>QSPI — SECONDARY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71811" y="2992679"/>
            <a:ext cx="1283818" cy="17335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780" b="0">
                <a:solidFill>
                  <a:srgbClr val="5B6B80"/>
                </a:solidFill>
                <a:latin typeface="Segoe UI"/>
              </a:rPr>
              <a:t>external component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40900" y="3342284"/>
            <a:ext cx="2145640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~925 KB for the app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484766" y="3655162"/>
            <a:ext cx="2457907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0">
                <a:solidFill>
                  <a:srgbClr val="5B6B80"/>
                </a:solidFill>
                <a:latin typeface="Segoe UI"/>
              </a:rPr>
              <a:t>secondary slot lives on QSPI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9643872" y="4066032"/>
            <a:ext cx="97536" cy="97536"/>
          </a:xfrm>
          <a:prstGeom prst="line">
            <a:avLst/>
          </a:prstGeom>
          <a:ln w="24384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H="1">
            <a:off x="9643872" y="4066032"/>
            <a:ext cx="97536" cy="97536"/>
          </a:xfrm>
          <a:prstGeom prst="line">
            <a:avLst/>
          </a:prstGeom>
          <a:ln w="24384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9875520" y="4043782"/>
            <a:ext cx="96560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auto-revert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9634347" y="4389120"/>
            <a:ext cx="45339" cy="45339"/>
          </a:xfrm>
          <a:prstGeom prst="line">
            <a:avLst/>
          </a:prstGeom>
          <a:ln w="25908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9679686" y="4337304"/>
            <a:ext cx="77724" cy="97155"/>
          </a:xfrm>
          <a:prstGeom prst="line">
            <a:avLst/>
          </a:prstGeom>
          <a:ln w="25908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9875520" y="4318102"/>
            <a:ext cx="1053389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field update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9643872" y="4614672"/>
            <a:ext cx="97536" cy="97536"/>
          </a:xfrm>
          <a:prstGeom prst="line">
            <a:avLst/>
          </a:prstGeom>
          <a:ln w="24384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H="1">
            <a:off x="9643872" y="4614672"/>
            <a:ext cx="97536" cy="97536"/>
          </a:xfrm>
          <a:prstGeom prst="line">
            <a:avLst/>
          </a:prstGeom>
          <a:ln w="24384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9875520" y="4592422"/>
            <a:ext cx="1492301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no extra hardware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87680" y="5257800"/>
            <a:ext cx="11216640" cy="1143000"/>
          </a:xfrm>
          <a:prstGeom prst="roundRect">
            <a:avLst>
              <a:gd name="adj" fmla="val 10666"/>
            </a:avLst>
          </a:prstGeom>
          <a:solidFill>
            <a:srgbClr val="EFF3F7"/>
          </a:solidFill>
          <a:ln w="15240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85800" y="5391607"/>
            <a:ext cx="4576572" cy="29337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20" b="1">
                <a:solidFill>
                  <a:srgbClr val="03234B"/>
                </a:solidFill>
                <a:latin typeface="Segoe UI"/>
              </a:rPr>
              <a:t>The question that picks the column: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5800" y="5734660"/>
            <a:ext cx="10369296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03234B"/>
                </a:solidFill>
                <a:latin typeface="Segoe UI"/>
              </a:rPr>
              <a:t>"If a correctly signed firmware installs, boots, and then fails — who rescues the device?"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5800" y="6047537"/>
            <a:ext cx="9579254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0">
                <a:solidFill>
                  <a:srgbClr val="5B6B80"/>
                </a:solidFill>
                <a:latin typeface="Segoe UI"/>
              </a:rPr>
              <a:t>The bootloader (swap) · a human with a probe (overwrite, single slot) · nobody (a locked device).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2710282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Side by side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8756294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Green is where a choice costs you nothing — amber and red are where it bites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83280" y="1173480"/>
            <a:ext cx="1615440" cy="381000"/>
          </a:xfrm>
          <a:prstGeom prst="roundRect">
            <a:avLst>
              <a:gd name="adj" fmla="val 20000"/>
            </a:avLst>
          </a:prstGeom>
          <a:solidFill>
            <a:srgbClr val="EFF3F7"/>
          </a:solidFill>
          <a:ln w="12192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69894" y="1284884"/>
            <a:ext cx="1242212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Single slot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74920" y="1173480"/>
            <a:ext cx="1615440" cy="381000"/>
          </a:xfrm>
          <a:prstGeom prst="roundRect">
            <a:avLst>
              <a:gd name="adj" fmla="val 20000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74462" y="1284884"/>
            <a:ext cx="1016356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FFFFFF"/>
                </a:solidFill>
                <a:latin typeface="Segoe UI"/>
              </a:rPr>
              <a:t>Overwrite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1173480"/>
            <a:ext cx="1615440" cy="381000"/>
          </a:xfrm>
          <a:prstGeom prst="roundRect">
            <a:avLst>
              <a:gd name="adj" fmla="val 20000"/>
            </a:avLst>
          </a:prstGeom>
          <a:solidFill>
            <a:srgbClr val="EFF3F7"/>
          </a:solidFill>
          <a:ln w="12192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48423" y="1284884"/>
            <a:ext cx="451714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Swap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58200" y="1173480"/>
            <a:ext cx="1615440" cy="381000"/>
          </a:xfrm>
          <a:prstGeom prst="roundRect">
            <a:avLst>
              <a:gd name="adj" fmla="val 20000"/>
            </a:avLst>
          </a:prstGeom>
          <a:solidFill>
            <a:srgbClr val="EFF3F7"/>
          </a:solidFill>
          <a:ln w="12192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57742" y="1284884"/>
            <a:ext cx="1016356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Bank swap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40" y="1173480"/>
            <a:ext cx="1615440" cy="381000"/>
          </a:xfrm>
          <a:prstGeom prst="roundRect">
            <a:avLst>
              <a:gd name="adj" fmla="val 20000"/>
            </a:avLst>
          </a:prstGeom>
          <a:solidFill>
            <a:srgbClr val="EFF3F7"/>
          </a:solidFill>
          <a:ln w="12192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05846" y="1284884"/>
            <a:ext cx="903427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External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7680" y="1600200"/>
            <a:ext cx="11277600" cy="487680"/>
          </a:xfrm>
          <a:prstGeom prst="roundRect">
            <a:avLst>
              <a:gd name="adj" fmla="val 125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" y="1787804"/>
            <a:ext cx="2032711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03234B"/>
                </a:solidFill>
                <a:latin typeface="Segoe UI"/>
              </a:rPr>
              <a:t>Application budget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44240" y="167640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37356" y="1803349"/>
            <a:ext cx="70728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~925 KB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35880" y="167640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DF1DE"/>
          </a:solidFill>
          <a:ln w="13716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28996" y="1803349"/>
            <a:ext cx="70728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E08A1E"/>
                </a:solidFill>
                <a:latin typeface="Segoe UI"/>
              </a:rPr>
              <a:t>~464 KB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27520" y="167640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DF1DE"/>
          </a:solidFill>
          <a:ln w="13716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0636" y="1803349"/>
            <a:ext cx="70728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E08A1E"/>
                </a:solidFill>
                <a:latin typeface="Segoe UI"/>
              </a:rPr>
              <a:t>~460 KB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19160" y="167640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DF1DE"/>
          </a:solidFill>
          <a:ln w="13716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2276" y="1803349"/>
            <a:ext cx="70728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E08A1E"/>
                </a:solidFill>
                <a:latin typeface="Segoe UI"/>
              </a:rPr>
              <a:t>~460 KB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10800" y="167640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03916" y="1803349"/>
            <a:ext cx="70728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~925 KB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4840" y="2336444"/>
            <a:ext cx="1355141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03234B"/>
                </a:solidFill>
                <a:latin typeface="Segoe UI"/>
              </a:rPr>
              <a:t>Install time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44240" y="222504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FFFFF"/>
          </a:solidFill>
          <a:ln w="13716">
            <a:solidFill>
              <a:srgbClr val="5B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38600" y="235198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5B6B80"/>
                </a:solidFill>
                <a:latin typeface="Segoe UI"/>
              </a:rPr>
              <a:t>n/a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35880" y="222504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78475" y="2351989"/>
            <a:ext cx="80833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one copy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27520" y="222504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DF1DE"/>
          </a:solidFill>
          <a:ln w="13716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69074" y="2351989"/>
            <a:ext cx="1010412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E08A1E"/>
                </a:solidFill>
                <a:latin typeface="Segoe UI"/>
              </a:rPr>
              <a:t>two copies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19160" y="222504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12276" y="2351989"/>
            <a:ext cx="70728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instant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210800" y="222504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DF1DE"/>
          </a:solidFill>
          <a:ln w="13716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401833" y="2351989"/>
            <a:ext cx="1111453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E08A1E"/>
                </a:solidFill>
                <a:latin typeface="Segoe UI"/>
              </a:rPr>
              <a:t>copy + QSPI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7680" y="2697480"/>
            <a:ext cx="11277600" cy="487680"/>
          </a:xfrm>
          <a:prstGeom prst="roundRect">
            <a:avLst>
              <a:gd name="adj" fmla="val 125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4840" y="2885084"/>
            <a:ext cx="1919783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03234B"/>
                </a:solidFill>
                <a:latin typeface="Segoe UI"/>
              </a:rPr>
              <a:t>Old firmware kept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444240" y="277368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BE7E8"/>
          </a:solidFill>
          <a:ln w="13716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038600" y="290062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D0323C"/>
                </a:solidFill>
                <a:latin typeface="Segoe UI"/>
              </a:rPr>
              <a:t>no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135880" y="277368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BE7E8"/>
          </a:solidFill>
          <a:ln w="13716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30240" y="290062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D0323C"/>
                </a:solidFill>
                <a:latin typeface="Segoe UI"/>
              </a:rPr>
              <a:t>no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27520" y="277368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21880" y="290062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yes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19160" y="277368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13520" y="290062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yes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210800" y="277368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BE7E8"/>
          </a:solidFill>
          <a:ln w="13716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805160" y="290062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D0323C"/>
                </a:solidFill>
                <a:latin typeface="Segoe UI"/>
              </a:rPr>
              <a:t>no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4840" y="3433724"/>
            <a:ext cx="2258568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03234B"/>
                </a:solidFill>
                <a:latin typeface="Segoe UI"/>
              </a:rPr>
              <a:t>Auto-revert on crash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444240" y="332232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BE7E8"/>
          </a:solidFill>
          <a:ln w="13716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38600" y="344926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D0323C"/>
                </a:solidFill>
                <a:latin typeface="Segoe UI"/>
              </a:rPr>
              <a:t>no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135880" y="332232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BE7E8"/>
          </a:solidFill>
          <a:ln w="13716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30240" y="344926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D0323C"/>
                </a:solidFill>
                <a:latin typeface="Segoe UI"/>
              </a:rPr>
              <a:t>no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827520" y="332232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21880" y="344926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yes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519160" y="332232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13520" y="344926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yes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210800" y="332232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BE7E8"/>
          </a:solidFill>
          <a:ln w="13716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805160" y="344926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D0323C"/>
                </a:solidFill>
                <a:latin typeface="Segoe UI"/>
              </a:rPr>
              <a:t>no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87680" y="3794760"/>
            <a:ext cx="11277600" cy="487680"/>
          </a:xfrm>
          <a:prstGeom prst="roundRect">
            <a:avLst>
              <a:gd name="adj" fmla="val 125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4840" y="3982364"/>
            <a:ext cx="1806854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03234B"/>
                </a:solidFill>
                <a:latin typeface="Segoe UI"/>
              </a:rPr>
              <a:t>App must confirm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444240" y="387096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38600" y="399790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no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135880" y="387096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730240" y="399790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no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827520" y="387096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DF1DE"/>
          </a:solidFill>
          <a:ln w="13716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421880" y="399790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E08A1E"/>
                </a:solidFill>
                <a:latin typeface="Segoe UI"/>
              </a:rPr>
              <a:t>yes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519160" y="387096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DF1DE"/>
          </a:solidFill>
          <a:ln w="13716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13520" y="399790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E08A1E"/>
                </a:solidFill>
                <a:latin typeface="Segoe UI"/>
              </a:rPr>
              <a:t>yes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210800" y="387096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805160" y="399790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no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4840" y="4531004"/>
            <a:ext cx="2597353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03234B"/>
                </a:solidFill>
                <a:latin typeface="Segoe UI"/>
              </a:rPr>
              <a:t>Power-fail safe install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444240" y="441960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BE7E8"/>
          </a:solidFill>
          <a:ln w="13716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038600" y="454654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D0323C"/>
                </a:solidFill>
                <a:latin typeface="Segoe UI"/>
              </a:rPr>
              <a:t>no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135880" y="441960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730240" y="454654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yes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827520" y="441960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421880" y="454654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yes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519160" y="441960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113520" y="454654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yes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0210800" y="441960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805160" y="454654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yes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87680" y="4892040"/>
            <a:ext cx="11277600" cy="487680"/>
          </a:xfrm>
          <a:prstGeom prst="roundRect">
            <a:avLst>
              <a:gd name="adj" fmla="val 125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24840" y="5079644"/>
            <a:ext cx="1580998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03234B"/>
                </a:solidFill>
                <a:latin typeface="Segoe UI"/>
              </a:rPr>
              <a:t>Extra hardware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444240" y="496824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038600" y="509518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no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135880" y="496824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730240" y="509518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no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827520" y="496824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421880" y="509518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no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519160" y="496824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113520" y="509518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no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10210800" y="496824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DF1DE"/>
          </a:solidFill>
          <a:ln w="13716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02875" y="5095189"/>
            <a:ext cx="909371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E08A1E"/>
                </a:solidFill>
                <a:latin typeface="Segoe UI"/>
              </a:rPr>
              <a:t>QSPI chip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24840" y="5628284"/>
            <a:ext cx="2145640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03234B"/>
                </a:solidFill>
                <a:latin typeface="Segoe UI"/>
              </a:rPr>
              <a:t>Status in this repo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444240" y="551688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FFFFF"/>
          </a:solidFill>
          <a:ln w="13716">
            <a:solidFill>
              <a:srgbClr val="5B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736315" y="5643829"/>
            <a:ext cx="909371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5B6B80"/>
                </a:solidFill>
                <a:latin typeface="Segoe UI"/>
              </a:rPr>
              <a:t>not built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135880" y="551688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326913" y="5643829"/>
            <a:ext cx="1111453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WORKS TODAY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827520" y="551688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DF1DE"/>
          </a:solidFill>
          <a:ln w="13716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866992" y="5643829"/>
            <a:ext cx="1414577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E08A1E"/>
                </a:solidFill>
                <a:latin typeface="Segoe UI"/>
              </a:rPr>
              <a:t>app side ready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8519160" y="551688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BE7E8"/>
          </a:solidFill>
          <a:ln w="13716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508111" y="5643829"/>
            <a:ext cx="151561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D0323C"/>
                </a:solidFill>
                <a:latin typeface="Segoe UI"/>
              </a:rPr>
              <a:t>not implemented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10210800" y="551688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DF1DE"/>
          </a:solidFill>
          <a:ln w="13716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401833" y="5643829"/>
            <a:ext cx="1111453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E08A1E"/>
                </a:solidFill>
                <a:latin typeface="Segoe UI"/>
              </a:rPr>
              <a:t>driver only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7680" y="6253124"/>
            <a:ext cx="10632643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0">
                <a:solidFill>
                  <a:srgbClr val="5B6B80"/>
                </a:solidFill>
                <a:latin typeface="Segoe UI"/>
              </a:rPr>
              <a:t>"Works today" is the column the board boots from right now. Everything else is a decision, not a fact.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8582558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What happens when an update goes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9562795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Four of the five failures are handled identically — the fifth is the whole argument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12080" y="1463040"/>
            <a:ext cx="3230880" cy="365760"/>
          </a:xfrm>
          <a:prstGeom prst="roundRect">
            <a:avLst>
              <a:gd name="adj" fmla="val 20833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19342" y="1566824"/>
            <a:ext cx="1016356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FFFFFF"/>
                </a:solidFill>
                <a:latin typeface="Segoe UI"/>
              </a:rPr>
              <a:t>OVERWRITE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64880" y="1463040"/>
            <a:ext cx="3230880" cy="365760"/>
          </a:xfrm>
          <a:prstGeom prst="roundRect">
            <a:avLst>
              <a:gd name="adj" fmla="val 20833"/>
            </a:avLst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76893" y="1566824"/>
            <a:ext cx="1806854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FFFFFF"/>
                </a:solidFill>
                <a:latin typeface="Segoe UI"/>
              </a:rPr>
              <a:t>SWAP / BANK SWAP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7680" y="1905000"/>
            <a:ext cx="11308080" cy="701040"/>
          </a:xfrm>
          <a:prstGeom prst="roundRect">
            <a:avLst>
              <a:gd name="adj" fmla="val 8695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4840" y="2153564"/>
            <a:ext cx="4291279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03234B"/>
                </a:solidFill>
                <a:latin typeface="Segoe UI"/>
              </a:rPr>
              <a:t>Forged or re-signed with the wrong key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73040" y="1996440"/>
            <a:ext cx="3048000" cy="518160"/>
          </a:xfrm>
          <a:prstGeom prst="roundRect">
            <a:avLst>
              <a:gd name="adj" fmla="val 14705"/>
            </a:avLst>
          </a:prstGeom>
          <a:solidFill>
            <a:srgbClr val="E2F5EC"/>
          </a:solidFill>
          <a:ln w="15240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5463540" y="2255520"/>
            <a:ext cx="53340" cy="53340"/>
          </a:xfrm>
          <a:prstGeom prst="line">
            <a:avLst/>
          </a:prstGeom>
          <a:ln w="30480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5516880" y="2194560"/>
            <a:ext cx="91440" cy="114300"/>
          </a:xfrm>
          <a:prstGeom prst="line">
            <a:avLst/>
          </a:prstGeom>
          <a:ln w="30480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745480" y="2176729"/>
            <a:ext cx="232394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12A05C"/>
                </a:solidFill>
                <a:latin typeface="Segoe UI"/>
              </a:rPr>
              <a:t>rejected before install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25840" y="1996440"/>
            <a:ext cx="3048000" cy="518160"/>
          </a:xfrm>
          <a:prstGeom prst="roundRect">
            <a:avLst>
              <a:gd name="adj" fmla="val 14705"/>
            </a:avLst>
          </a:prstGeom>
          <a:solidFill>
            <a:srgbClr val="E2F5EC"/>
          </a:solidFill>
          <a:ln w="15240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8816340" y="2255520"/>
            <a:ext cx="53340" cy="53340"/>
          </a:xfrm>
          <a:prstGeom prst="line">
            <a:avLst/>
          </a:prstGeom>
          <a:ln w="30480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8869680" y="2194560"/>
            <a:ext cx="91440" cy="114300"/>
          </a:xfrm>
          <a:prstGeom prst="line">
            <a:avLst/>
          </a:prstGeom>
          <a:ln w="30480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098280" y="2176729"/>
            <a:ext cx="232394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12A05C"/>
                </a:solidFill>
                <a:latin typeface="Segoe UI"/>
              </a:rPr>
              <a:t>rejected before install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" y="2946044"/>
            <a:ext cx="3274924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03234B"/>
                </a:solidFill>
                <a:latin typeface="Segoe UI"/>
              </a:rPr>
              <a:t>Corrupted during the transfer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73040" y="2788920"/>
            <a:ext cx="3048000" cy="518160"/>
          </a:xfrm>
          <a:prstGeom prst="roundRect">
            <a:avLst>
              <a:gd name="adj" fmla="val 14705"/>
            </a:avLst>
          </a:prstGeom>
          <a:solidFill>
            <a:srgbClr val="E2F5EC"/>
          </a:solidFill>
          <a:ln w="15240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463540" y="3048000"/>
            <a:ext cx="53340" cy="53340"/>
          </a:xfrm>
          <a:prstGeom prst="line">
            <a:avLst/>
          </a:prstGeom>
          <a:ln w="30480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5516880" y="2987040"/>
            <a:ext cx="91440" cy="114300"/>
          </a:xfrm>
          <a:prstGeom prst="line">
            <a:avLst/>
          </a:prstGeom>
          <a:ln w="30480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745480" y="2969209"/>
            <a:ext cx="2424989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12A05C"/>
                </a:solidFill>
                <a:latin typeface="Segoe UI"/>
              </a:rPr>
              <a:t>hash mismatch — rejected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25840" y="2788920"/>
            <a:ext cx="3048000" cy="518160"/>
          </a:xfrm>
          <a:prstGeom prst="roundRect">
            <a:avLst>
              <a:gd name="adj" fmla="val 14705"/>
            </a:avLst>
          </a:prstGeom>
          <a:solidFill>
            <a:srgbClr val="E2F5EC"/>
          </a:solidFill>
          <a:ln w="15240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8816340" y="3048000"/>
            <a:ext cx="53340" cy="53340"/>
          </a:xfrm>
          <a:prstGeom prst="line">
            <a:avLst/>
          </a:prstGeom>
          <a:ln w="30480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8869680" y="2987040"/>
            <a:ext cx="91440" cy="114300"/>
          </a:xfrm>
          <a:prstGeom prst="line">
            <a:avLst/>
          </a:prstGeom>
          <a:ln w="30480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098280" y="2969209"/>
            <a:ext cx="2424989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12A05C"/>
                </a:solidFill>
                <a:latin typeface="Segoe UI"/>
              </a:rPr>
              <a:t>hash mismatch — rejected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7680" y="3489960"/>
            <a:ext cx="11308080" cy="701040"/>
          </a:xfrm>
          <a:prstGeom prst="roundRect">
            <a:avLst>
              <a:gd name="adj" fmla="val 8695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840" y="3738524"/>
            <a:ext cx="4291279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03234B"/>
                </a:solidFill>
                <a:latin typeface="Segoe UI"/>
              </a:rPr>
              <a:t>Genuine, but an old vulnerable version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273040" y="3581400"/>
            <a:ext cx="3048000" cy="518160"/>
          </a:xfrm>
          <a:prstGeom prst="roundRect">
            <a:avLst>
              <a:gd name="adj" fmla="val 14705"/>
            </a:avLst>
          </a:prstGeom>
          <a:solidFill>
            <a:srgbClr val="E2F5EC"/>
          </a:solidFill>
          <a:ln w="15240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5463540" y="3840480"/>
            <a:ext cx="53340" cy="53340"/>
          </a:xfrm>
          <a:prstGeom prst="line">
            <a:avLst/>
          </a:prstGeom>
          <a:ln w="30480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5516880" y="3779520"/>
            <a:ext cx="91440" cy="114300"/>
          </a:xfrm>
          <a:prstGeom prst="line">
            <a:avLst/>
          </a:prstGeom>
          <a:ln w="30480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745480" y="3761689"/>
            <a:ext cx="2829154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12A05C"/>
                </a:solidFill>
                <a:latin typeface="Segoe UI"/>
              </a:rPr>
              <a:t>below the counter — rejected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25840" y="3581400"/>
            <a:ext cx="3048000" cy="518160"/>
          </a:xfrm>
          <a:prstGeom prst="roundRect">
            <a:avLst>
              <a:gd name="adj" fmla="val 14705"/>
            </a:avLst>
          </a:prstGeom>
          <a:solidFill>
            <a:srgbClr val="E2F5EC"/>
          </a:solidFill>
          <a:ln w="15240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8816340" y="3840480"/>
            <a:ext cx="53340" cy="53340"/>
          </a:xfrm>
          <a:prstGeom prst="line">
            <a:avLst/>
          </a:prstGeom>
          <a:ln w="30480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8869680" y="3779520"/>
            <a:ext cx="91440" cy="114300"/>
          </a:xfrm>
          <a:prstGeom prst="line">
            <a:avLst/>
          </a:prstGeom>
          <a:ln w="30480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9098280" y="3761689"/>
            <a:ext cx="2829154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12A05C"/>
                </a:solidFill>
                <a:latin typeface="Segoe UI"/>
              </a:rPr>
              <a:t>below the counter — rejected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840" y="4531004"/>
            <a:ext cx="3274924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03234B"/>
                </a:solidFill>
                <a:latin typeface="Segoe UI"/>
              </a:rPr>
              <a:t>Power lost during the install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273040" y="4373880"/>
            <a:ext cx="3048000" cy="518160"/>
          </a:xfrm>
          <a:prstGeom prst="roundRect">
            <a:avLst>
              <a:gd name="adj" fmla="val 14705"/>
            </a:avLst>
          </a:prstGeom>
          <a:solidFill>
            <a:srgbClr val="E2F5EC"/>
          </a:solidFill>
          <a:ln w="15240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5463540" y="4632960"/>
            <a:ext cx="53340" cy="53340"/>
          </a:xfrm>
          <a:prstGeom prst="line">
            <a:avLst/>
          </a:prstGeom>
          <a:ln w="30480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5516880" y="4572000"/>
            <a:ext cx="91440" cy="114300"/>
          </a:xfrm>
          <a:prstGeom prst="line">
            <a:avLst/>
          </a:prstGeom>
          <a:ln w="30480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745480" y="4554169"/>
            <a:ext cx="17177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12A05C"/>
                </a:solidFill>
                <a:latin typeface="Segoe UI"/>
              </a:rPr>
              <a:t>the copy restarts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25840" y="4373880"/>
            <a:ext cx="3048000" cy="518160"/>
          </a:xfrm>
          <a:prstGeom prst="roundRect">
            <a:avLst>
              <a:gd name="adj" fmla="val 14705"/>
            </a:avLst>
          </a:prstGeom>
          <a:solidFill>
            <a:srgbClr val="E2F5EC"/>
          </a:solidFill>
          <a:ln w="15240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8816340" y="4632960"/>
            <a:ext cx="53340" cy="53340"/>
          </a:xfrm>
          <a:prstGeom prst="line">
            <a:avLst/>
          </a:prstGeom>
          <a:ln w="30480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8869680" y="4572000"/>
            <a:ext cx="91440" cy="114300"/>
          </a:xfrm>
          <a:prstGeom prst="line">
            <a:avLst/>
          </a:prstGeom>
          <a:ln w="30480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098280" y="4554169"/>
            <a:ext cx="1616659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12A05C"/>
                </a:solidFill>
                <a:latin typeface="Segoe UI"/>
              </a:rPr>
              <a:t>the swap resumes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11480" y="5029200"/>
            <a:ext cx="11506200" cy="762000"/>
          </a:xfrm>
          <a:prstGeom prst="roundRect">
            <a:avLst>
              <a:gd name="adj" fmla="val 12000"/>
            </a:avLst>
          </a:prstGeom>
          <a:solidFill>
            <a:srgbClr val="FDF1DE"/>
          </a:solidFill>
          <a:ln w="18288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4840" y="5323484"/>
            <a:ext cx="4968850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03234B"/>
                </a:solidFill>
                <a:latin typeface="Segoe UI"/>
              </a:rPr>
              <a:t>Correctly signed — but it crashes at runtime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273040" y="5166360"/>
            <a:ext cx="3048000" cy="518160"/>
          </a:xfrm>
          <a:prstGeom prst="roundRect">
            <a:avLst>
              <a:gd name="adj" fmla="val 14705"/>
            </a:avLst>
          </a:prstGeom>
          <a:solidFill>
            <a:srgbClr val="FBE7E8"/>
          </a:solidFill>
          <a:ln w="15240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5474208" y="5367528"/>
            <a:ext cx="115824" cy="115824"/>
          </a:xfrm>
          <a:prstGeom prst="line">
            <a:avLst/>
          </a:prstGeom>
          <a:ln w="28956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5474208" y="5367528"/>
            <a:ext cx="115824" cy="115824"/>
          </a:xfrm>
          <a:prstGeom prst="line">
            <a:avLst/>
          </a:prstGeom>
          <a:ln w="28956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745480" y="5346649"/>
            <a:ext cx="2829154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D0323C"/>
                </a:solidFill>
                <a:latin typeface="Segoe UI"/>
              </a:rPr>
              <a:t>device stuck — needs a probe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625840" y="5166360"/>
            <a:ext cx="3048000" cy="518160"/>
          </a:xfrm>
          <a:prstGeom prst="roundRect">
            <a:avLst>
              <a:gd name="adj" fmla="val 14705"/>
            </a:avLst>
          </a:prstGeom>
          <a:solidFill>
            <a:srgbClr val="E2F5EC"/>
          </a:solidFill>
          <a:ln w="15240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8816340" y="5425440"/>
            <a:ext cx="53340" cy="53340"/>
          </a:xfrm>
          <a:prstGeom prst="line">
            <a:avLst/>
          </a:prstGeom>
          <a:ln w="30480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8869680" y="5364480"/>
            <a:ext cx="91440" cy="114300"/>
          </a:xfrm>
          <a:prstGeom prst="line">
            <a:avLst/>
          </a:prstGeom>
          <a:ln w="30480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9098280" y="5346649"/>
            <a:ext cx="2829154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12A05C"/>
                </a:solidFill>
                <a:latin typeface="Segoe UI"/>
              </a:rPr>
              <a:t>reverts by itself, next boot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87680" y="6096000"/>
            <a:ext cx="11216640" cy="472440"/>
          </a:xfrm>
          <a:prstGeom prst="roundRect">
            <a:avLst>
              <a:gd name="adj" fmla="val 22580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5632" y="6229807"/>
            <a:ext cx="10460736" cy="29337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20" b="1">
                <a:solidFill>
                  <a:srgbClr val="FFFFFF"/>
                </a:solidFill>
                <a:latin typeface="Segoe UI"/>
              </a:rPr>
              <a:t>Signatures stop bad firmware. Only a second slot stops bad-but-genuine firmware.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6323990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Six questions, in this 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967801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Each answer removes whole branches — the last two cannot be changed after production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7680" y="1356360"/>
            <a:ext cx="7848600" cy="70104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539240"/>
            <a:ext cx="335280" cy="335280"/>
          </a:xfrm>
          <a:prstGeom prst="ellipse">
            <a:avLst/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1040" y="160081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3480" y="1497940"/>
            <a:ext cx="5491886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1">
                <a:solidFill>
                  <a:srgbClr val="03234B"/>
                </a:solidFill>
                <a:latin typeface="Segoe UI"/>
              </a:rPr>
              <a:t>Is the firmware updated in the field at all?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3480" y="1742389"/>
            <a:ext cx="391729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no → single slot, and most of this is moot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80" y="2164080"/>
            <a:ext cx="7848600" cy="70104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2346960"/>
            <a:ext cx="335280" cy="335280"/>
          </a:xfrm>
          <a:prstGeom prst="ellipse">
            <a:avLst/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1040" y="240853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3480" y="2305660"/>
            <a:ext cx="9610801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1">
                <a:solidFill>
                  <a:srgbClr val="03234B"/>
                </a:solidFill>
                <a:latin typeface="Segoe UI"/>
              </a:rPr>
              <a:t>If a signed firmware boots and then fails, must the device recover by itself?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3480" y="2550109"/>
            <a:ext cx="2891333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yes → swap   ·   no → overwrite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7680" y="2971800"/>
            <a:ext cx="7848600" cy="70104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5800" y="3154680"/>
            <a:ext cx="335280" cy="335280"/>
          </a:xfrm>
          <a:prstGeom prst="ellipse">
            <a:avLst/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1040" y="321625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3480" y="3113380"/>
            <a:ext cx="4493362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1">
                <a:solidFill>
                  <a:srgbClr val="03234B"/>
                </a:solidFill>
                <a:latin typeface="Segoe UI"/>
              </a:rPr>
              <a:t>Does the application fit in ~464 KB?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3480" y="3357829"/>
            <a:ext cx="466344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no → external download slot, or revisit question 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7680" y="3779520"/>
            <a:ext cx="7848600" cy="70104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8288">
            <a:solidFill>
              <a:srgbClr val="1B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962400"/>
            <a:ext cx="335280" cy="335280"/>
          </a:xfrm>
          <a:prstGeom prst="ellipse">
            <a:avLst/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1040" y="402397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3480" y="3921100"/>
            <a:ext cx="3619652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1">
                <a:solidFill>
                  <a:srgbClr val="03234B"/>
                </a:solidFill>
                <a:latin typeface="Segoe UI"/>
              </a:rPr>
              <a:t>Is the firmware confidential?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3480" y="4165549"/>
            <a:ext cx="5316322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no → drop encryption   ·   yes → raw key or SAES-held key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7680" y="4587240"/>
            <a:ext cx="7848600" cy="70104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8288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5800" y="4770120"/>
            <a:ext cx="335280" cy="335280"/>
          </a:xfrm>
          <a:prstGeom prst="ellipse">
            <a:avLst/>
          </a:prstGeom>
          <a:solidFill>
            <a:srgbClr val="D0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1040" y="483169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3480" y="4728820"/>
            <a:ext cx="4742993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1">
                <a:solidFill>
                  <a:srgbClr val="03234B"/>
                </a:solidFill>
                <a:latin typeface="Segoe UI"/>
              </a:rPr>
              <a:t>What happens if the signing key leaks?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3480" y="4973269"/>
            <a:ext cx="5129784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"we accept losing the fleet" — or design revocation NOW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51320" y="4770120"/>
            <a:ext cx="1417320" cy="335280"/>
          </a:xfrm>
          <a:prstGeom prst="roundRect">
            <a:avLst>
              <a:gd name="adj" fmla="val 50000"/>
            </a:avLst>
          </a:prstGeom>
          <a:solidFill>
            <a:srgbClr val="D0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89394" y="4866742"/>
            <a:ext cx="1141171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FFFFFF"/>
                </a:solidFill>
                <a:latin typeface="Segoe UI"/>
              </a:rPr>
              <a:t>IRREVERSIBLE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7680" y="5394960"/>
            <a:ext cx="7848600" cy="70104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8288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5800" y="5577840"/>
            <a:ext cx="335280" cy="335280"/>
          </a:xfrm>
          <a:prstGeom prst="ellipse">
            <a:avLst/>
          </a:prstGeom>
          <a:solidFill>
            <a:srgbClr val="D0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1040" y="563941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3480" y="5536540"/>
            <a:ext cx="4118915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1">
                <a:solidFill>
                  <a:srgbClr val="03234B"/>
                </a:solidFill>
                <a:latin typeface="Segoe UI"/>
              </a:rPr>
              <a:t>What is the production lock-down?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3480" y="5780989"/>
            <a:ext cx="634227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RDP level · tamper policy · dev mode off · regression allowed or not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751320" y="5577840"/>
            <a:ext cx="1417320" cy="335280"/>
          </a:xfrm>
          <a:prstGeom prst="roundRect">
            <a:avLst>
              <a:gd name="adj" fmla="val 50000"/>
            </a:avLst>
          </a:prstGeom>
          <a:solidFill>
            <a:srgbClr val="D0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89394" y="5674462"/>
            <a:ext cx="1141171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FFFFFF"/>
                </a:solidFill>
                <a:latin typeface="Segoe UI"/>
              </a:rPr>
              <a:t>IRREVERSIBLE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12480" y="1356360"/>
            <a:ext cx="3291840" cy="2407920"/>
          </a:xfrm>
          <a:prstGeom prst="roundRect">
            <a:avLst>
              <a:gd name="adj" fmla="val 5063"/>
            </a:avLst>
          </a:prstGeom>
          <a:solidFill>
            <a:srgbClr val="EFF3F7"/>
          </a:solidFill>
          <a:ln w="18288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20049" y="1444447"/>
            <a:ext cx="2876702" cy="29337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20" b="1">
                <a:solidFill>
                  <a:srgbClr val="03234B"/>
                </a:solidFill>
                <a:latin typeface="Segoe UI"/>
              </a:rPr>
              <a:t>Where the answers land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610600" y="1752600"/>
            <a:ext cx="457200" cy="243840"/>
          </a:xfrm>
          <a:prstGeom prst="roundRect">
            <a:avLst>
              <a:gd name="adj" fmla="val 25000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0" y="179572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Segoe UI"/>
              </a:rPr>
              <a:t>P0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74480" y="1795729"/>
            <a:ext cx="158557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03234B"/>
                </a:solidFill>
                <a:latin typeface="Segoe UI"/>
              </a:rPr>
              <a:t>Lab — ships today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10600" y="2072640"/>
            <a:ext cx="457200" cy="243840"/>
          </a:xfrm>
          <a:prstGeom prst="roundRect">
            <a:avLst>
              <a:gd name="adj" fmla="val 25000"/>
            </a:avLst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86800" y="211576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Segoe UI"/>
              </a:rPr>
              <a:t>P1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74480" y="2115769"/>
            <a:ext cx="1399032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03234B"/>
                </a:solidFill>
                <a:latin typeface="Segoe UI"/>
              </a:rPr>
              <a:t>No field update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10600" y="2392680"/>
            <a:ext cx="457200" cy="243840"/>
          </a:xfrm>
          <a:prstGeom prst="roundRect">
            <a:avLst>
              <a:gd name="adj" fmla="val 25000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0" y="243580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Segoe UI"/>
              </a:rPr>
              <a:t>P2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74480" y="2435809"/>
            <a:ext cx="1865376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03234B"/>
                </a:solidFill>
                <a:latin typeface="Segoe UI"/>
              </a:rPr>
              <a:t>Production overwrite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610600" y="2712720"/>
            <a:ext cx="457200" cy="243840"/>
          </a:xfrm>
          <a:prstGeom prst="roundRect">
            <a:avLst>
              <a:gd name="adj" fmla="val 25000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0" y="275584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Segoe UI"/>
              </a:rPr>
              <a:t>P3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74480" y="2755849"/>
            <a:ext cx="167883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03234B"/>
                </a:solidFill>
                <a:latin typeface="Segoe UI"/>
              </a:rPr>
              <a:t>Safe update (swap)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610600" y="3032760"/>
            <a:ext cx="457200" cy="243840"/>
          </a:xfrm>
          <a:prstGeom prst="roundRect">
            <a:avLst>
              <a:gd name="adj" fmla="val 25000"/>
            </a:avLst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0" y="307588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Segoe UI"/>
              </a:rPr>
              <a:t>P4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74480" y="3075889"/>
            <a:ext cx="167883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03234B"/>
                </a:solidFill>
                <a:latin typeface="Segoe UI"/>
              </a:rPr>
              <a:t>Big app (external)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610600" y="3352800"/>
            <a:ext cx="457200" cy="243840"/>
          </a:xfrm>
          <a:prstGeom prst="roundRect">
            <a:avLst>
              <a:gd name="adj" fmla="val 25000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0" y="339592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Segoe UI"/>
              </a:rPr>
              <a:t>P5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74480" y="3395929"/>
            <a:ext cx="1305763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03234B"/>
                </a:solidFill>
                <a:latin typeface="Segoe UI"/>
              </a:rPr>
              <a:t>High assurance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412480" y="3931920"/>
            <a:ext cx="3291840" cy="1798320"/>
          </a:xfrm>
          <a:prstGeom prst="roundRect">
            <a:avLst>
              <a:gd name="adj" fmla="val 6779"/>
            </a:avLst>
          </a:prstGeom>
          <a:solidFill>
            <a:srgbClr val="FBE7E8"/>
          </a:solidFill>
          <a:ln w="18288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810244" y="4103980"/>
            <a:ext cx="2496312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03234B"/>
                </a:solidFill>
                <a:latin typeface="Segoe UI"/>
              </a:rPr>
              <a:t>Decide 5 and 6 first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53882" y="4447642"/>
            <a:ext cx="2809037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0">
                <a:solidFill>
                  <a:srgbClr val="5B6B80"/>
                </a:solidFill>
                <a:latin typeface="Segoe UI"/>
              </a:rPr>
              <a:t>They are listed last because the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29446" y="4638142"/>
            <a:ext cx="2457907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0">
                <a:solidFill>
                  <a:srgbClr val="5B6B80"/>
                </a:solidFill>
                <a:latin typeface="Segoe UI"/>
              </a:rPr>
              <a:t>earlier answers shape them 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97773" y="4828642"/>
            <a:ext cx="2721254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0">
                <a:solidFill>
                  <a:srgbClr val="5B6B80"/>
                </a:solidFill>
                <a:latin typeface="Segoe UI"/>
              </a:rPr>
              <a:t>but they must be settled before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53882" y="5019142"/>
            <a:ext cx="2809037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0">
                <a:solidFill>
                  <a:srgbClr val="5B6B80"/>
                </a:solidFill>
                <a:latin typeface="Segoe UI"/>
              </a:rPr>
              <a:t>the first device is provisioned.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66099" y="5209642"/>
            <a:ext cx="298460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0">
                <a:solidFill>
                  <a:srgbClr val="5B6B80"/>
                </a:solidFill>
                <a:latin typeface="Segoe UI"/>
              </a:rPr>
              <a:t>After that, the bootloader and the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53882" y="5400142"/>
            <a:ext cx="2809037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0">
                <a:solidFill>
                  <a:srgbClr val="5B6B80"/>
                </a:solidFill>
                <a:latin typeface="Segoe UI"/>
              </a:rPr>
              <a:t>option bytes are locked forever.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87680" y="6202680"/>
            <a:ext cx="7848600" cy="365760"/>
          </a:xfrm>
          <a:prstGeom prst="roundRect">
            <a:avLst>
              <a:gd name="adj" fmla="val 25000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6384" y="6291072"/>
            <a:ext cx="7251192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Questions 1–4 are engineering. Questions 5–6 are commitments.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8130845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Questions that keep coming up 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7143293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The image format, and what the application is allowed to touch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7680" y="1280160"/>
            <a:ext cx="11216640" cy="411480"/>
          </a:xfrm>
          <a:prstGeom prst="roundRect">
            <a:avLst>
              <a:gd name="adj" fmla="val 22222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5867"/>
            <a:ext cx="3661258" cy="29337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20" b="1">
                <a:solidFill>
                  <a:srgbClr val="FFFFFF"/>
                </a:solidFill>
                <a:latin typeface="Segoe UI"/>
              </a:rPr>
              <a:t>What is the "magic trailer"?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63700"/>
            <a:ext cx="11483035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1">
                <a:solidFill>
                  <a:srgbClr val="03234B"/>
                </a:solidFill>
                <a:latin typeface="Segoe UI"/>
              </a:rPr>
              <a:t>A 16-byte flag the app writes at the very end of the download slot — "a candidate is ready".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69109"/>
            <a:ext cx="8394192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MCUboot's standard value, written at 0xFFFF0 in one flash programming unit (0x10 bytes)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82469"/>
            <a:ext cx="13430707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It sits AFTER the image data, so it can only be complete if the whole download was — power loss leaves no magic, and the RoT ignores the slot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95829"/>
            <a:ext cx="932688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It is not a trust signal: the app writes it, so a forged one only makes the RoT verify and reject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7680" y="2910840"/>
            <a:ext cx="11216640" cy="563880"/>
          </a:xfrm>
          <a:prstGeom prst="roundRect">
            <a:avLst>
              <a:gd name="adj" fmla="val 16216"/>
            </a:avLst>
          </a:prstGeom>
          <a:solidFill>
            <a:srgbClr val="EFF3F7"/>
          </a:solidFill>
          <a:ln w="15240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015082"/>
            <a:ext cx="1228954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secondary slot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20974"/>
            <a:ext cx="57607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Consolas"/>
              </a:rPr>
              <a:t>0x8C000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0" y="3002280"/>
            <a:ext cx="8686800" cy="381000"/>
          </a:xfrm>
          <a:prstGeom prst="roundRect">
            <a:avLst>
              <a:gd name="adj" fmla="val 16000"/>
            </a:avLst>
          </a:prstGeom>
          <a:solidFill>
            <a:srgbClr val="E4F4FC"/>
          </a:solidFill>
          <a:ln w="15240">
            <a:solidFill>
              <a:srgbClr val="1B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9351" y="3098597"/>
            <a:ext cx="3530498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80" b="1">
                <a:solidFill>
                  <a:srgbClr val="1B7CA8"/>
                </a:solidFill>
                <a:latin typeface="Segoe UI"/>
              </a:rPr>
              <a:t>image data, written front to back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033760" y="3002280"/>
            <a:ext cx="579120" cy="381000"/>
          </a:xfrm>
          <a:prstGeom prst="roundRect">
            <a:avLst>
              <a:gd name="adj" fmla="val 16000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30153" y="3084119"/>
            <a:ext cx="386334" cy="17335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780" b="1">
                <a:solidFill>
                  <a:srgbClr val="FFFFFF"/>
                </a:solidFill>
                <a:latin typeface="Segoe UI"/>
              </a:rPr>
              <a:t>MAGIC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0920" y="3229051"/>
            <a:ext cx="304800" cy="1600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Segoe UI"/>
              </a:rPr>
              <a:t>16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11281" y="3464814"/>
            <a:ext cx="624078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1">
                <a:solidFill>
                  <a:srgbClr val="6B5BD2"/>
                </a:solidFill>
                <a:latin typeface="Consolas"/>
              </a:rPr>
              <a:t>0xFFFF0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7680" y="3901440"/>
            <a:ext cx="11216640" cy="411480"/>
          </a:xfrm>
          <a:prstGeom prst="roundRect">
            <a:avLst>
              <a:gd name="adj" fmla="val 22222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997147"/>
            <a:ext cx="10460736" cy="29337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20" b="1">
                <a:solidFill>
                  <a:srgbClr val="FFFFFF"/>
                </a:solidFill>
                <a:latin typeface="Segoe UI"/>
              </a:rPr>
              <a:t>The image arrives encrypted — should the app decrypt it before writing to flash?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484980"/>
            <a:ext cx="10609326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1">
                <a:solidFill>
                  <a:srgbClr val="12A05C"/>
                </a:solidFill>
                <a:latin typeface="Segoe UI"/>
              </a:rPr>
              <a:t>No. Write it byte for byte, still encrypted. The application never decrypts anything.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790389"/>
            <a:ext cx="951341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It could not anyway: the decryption key is at 0x12000, inside HDP, which closes before the app runs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003749"/>
            <a:ext cx="13803782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Decryption happens TWICE, both inside the RoT: once in RAM to reconstruct the hash the signature covers, once while copying into the primary slot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217109"/>
            <a:ext cx="1007303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Invariant: primary slot = clear, secondary slot = encrypted — visible in the two image recipes (-c vs -E)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430469"/>
            <a:ext cx="8114386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In swap mode the RoT re-encrypts the outgoing image on its way to the secondary slot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7680" y="6217920"/>
            <a:ext cx="11216640" cy="426720"/>
          </a:xfrm>
          <a:prstGeom prst="roundRect">
            <a:avLst>
              <a:gd name="adj" fmla="val 21428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7888" y="6336792"/>
            <a:ext cx="10936224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All the security is in the image format, not in the pipe — so the transport can be anything.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8130845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Questions that keep coming up 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8525866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Configuration and calibration data, and why it must live outside the slots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7680" y="1280160"/>
            <a:ext cx="11216640" cy="411480"/>
          </a:xfrm>
          <a:prstGeom prst="roundRect">
            <a:avLst>
              <a:gd name="adj" fmla="val 22222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5867"/>
            <a:ext cx="10722254" cy="29337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20" b="1">
                <a:solidFill>
                  <a:srgbClr val="FFFFFF"/>
                </a:solidFill>
                <a:latin typeface="Segoe UI"/>
              </a:rPr>
              <a:t>We keep calibration and configuration in flash. Must we mirror it into both slots?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63700"/>
            <a:ext cx="10234879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1">
                <a:solidFill>
                  <a:srgbClr val="6B5BD2"/>
                </a:solidFill>
                <a:latin typeface="Segoe UI"/>
              </a:rPr>
              <a:t>No — move it OUT of the slots. The bootloader never touches anything outside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69109"/>
            <a:ext cx="7648042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Inside a slot it does not survive: overwrite erases the primary slot wholesale;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82469"/>
            <a:ext cx="11565331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swap carries the page out to the secondary slot, hands back a sector of the incoming image — and a revert undoes it again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95829"/>
            <a:ext cx="7554773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Mirroring inside the slots does not help; a dedicated region outside them does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1312" y="3075432"/>
            <a:ext cx="97536" cy="97536"/>
          </a:xfrm>
          <a:prstGeom prst="line">
            <a:avLst/>
          </a:prstGeom>
          <a:ln w="24384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591312" y="3075432"/>
            <a:ext cx="97536" cy="97536"/>
          </a:xfrm>
          <a:prstGeom prst="line">
            <a:avLst/>
          </a:prstGeom>
          <a:ln w="24384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37637"/>
            <a:ext cx="6633058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03234B"/>
                </a:solidFill>
                <a:latin typeface="Segoe UI"/>
              </a:rPr>
              <a:t>today — the slots run to the top of flash, nothing is reserved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7680" y="3276600"/>
            <a:ext cx="1021080" cy="411480"/>
          </a:xfrm>
          <a:prstGeom prst="roundRect">
            <a:avLst>
              <a:gd name="adj" fmla="val 12962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8536" y="3395777"/>
            <a:ext cx="1069848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Segoe UI"/>
              </a:rPr>
              <a:t>RoT + keys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39240" y="3276600"/>
            <a:ext cx="5052060" cy="411480"/>
          </a:xfrm>
          <a:prstGeom prst="roundRect">
            <a:avLst>
              <a:gd name="adj" fmla="val 12962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78124" y="3395777"/>
            <a:ext cx="1604772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Segoe UI"/>
              </a:rPr>
              <a:t>PRIMARY  464 KB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21780" y="3276600"/>
            <a:ext cx="5052060" cy="411480"/>
          </a:xfrm>
          <a:prstGeom prst="roundRect">
            <a:avLst>
              <a:gd name="adj" fmla="val 12962"/>
            </a:avLst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3679" y="3395777"/>
            <a:ext cx="1818742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Segoe UI"/>
              </a:rPr>
              <a:t>SECONDARY  464 KB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5216" y="4160520"/>
            <a:ext cx="42672" cy="42672"/>
          </a:xfrm>
          <a:prstGeom prst="line">
            <a:avLst/>
          </a:prstGeom>
          <a:ln w="24384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27888" y="4111752"/>
            <a:ext cx="73152" cy="91440"/>
          </a:xfrm>
          <a:prstGeom prst="line">
            <a:avLst/>
          </a:prstGeom>
          <a:ln w="24384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4073957"/>
            <a:ext cx="9414662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03234B"/>
                </a:solidFill>
                <a:latin typeface="Segoe UI"/>
              </a:rPr>
              <a:t>one way to make room — 16 KB reserved, taken from both slots   (data block not to scale)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7680" y="4312920"/>
            <a:ext cx="947783" cy="411480"/>
          </a:xfrm>
          <a:prstGeom prst="roundRect">
            <a:avLst>
              <a:gd name="adj" fmla="val 12962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1887" y="4432097"/>
            <a:ext cx="1069848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Segoe UI"/>
              </a:rPr>
              <a:t>RoT + keys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65943" y="4312920"/>
            <a:ext cx="4616269" cy="411480"/>
          </a:xfrm>
          <a:prstGeom prst="roundRect">
            <a:avLst>
              <a:gd name="adj" fmla="val 12962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6931" y="4432097"/>
            <a:ext cx="1604772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Segoe UI"/>
              </a:rPr>
              <a:t>PRIMARY  456 KB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5943" y="4821174"/>
            <a:ext cx="57607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Consolas"/>
              </a:rPr>
              <a:t>0x18000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12691" y="4312920"/>
            <a:ext cx="4616269" cy="411480"/>
          </a:xfrm>
          <a:prstGeom prst="roundRect">
            <a:avLst>
              <a:gd name="adj" fmla="val 12962"/>
            </a:avLst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6695" y="4432097"/>
            <a:ext cx="1818742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Segoe UI"/>
              </a:rPr>
              <a:t>SECONDARY  456 KB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12691" y="4821174"/>
            <a:ext cx="57607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Consolas"/>
              </a:rPr>
              <a:t>0x8A000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59440" y="4312920"/>
            <a:ext cx="944880" cy="411480"/>
          </a:xfrm>
          <a:prstGeom prst="roundRect">
            <a:avLst>
              <a:gd name="adj" fmla="val 12962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29798" y="4378909"/>
            <a:ext cx="404165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Segoe UI"/>
              </a:rPr>
              <a:t>DATA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39856" y="4554626"/>
            <a:ext cx="384048" cy="186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840" b="0">
                <a:solidFill>
                  <a:srgbClr val="FFFFFF"/>
                </a:solidFill>
                <a:latin typeface="Segoe UI"/>
              </a:rPr>
              <a:t>16 KB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59440" y="4821174"/>
            <a:ext cx="624078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1">
                <a:solidFill>
                  <a:srgbClr val="6B5BD2"/>
                </a:solidFill>
                <a:latin typeface="Consolas"/>
              </a:rPr>
              <a:t>0xFC000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7680" y="5379720"/>
            <a:ext cx="3627120" cy="85344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8288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0560" y="5491124"/>
            <a:ext cx="2484425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D0323C"/>
                </a:solidFill>
                <a:latin typeface="Segoe UI"/>
              </a:rPr>
              <a:t>Swap needs equal slots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0560" y="5743042"/>
            <a:ext cx="2018995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so N bytes of data area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0560" y="5933542"/>
            <a:ext cx="2018995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costs 2N bytes of flash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28160" y="5379720"/>
            <a:ext cx="3627120" cy="85344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8288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11040" y="5491124"/>
            <a:ext cx="3613709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E08A1E"/>
                </a:solidFill>
                <a:latin typeface="Segoe UI"/>
              </a:rPr>
              <a:t>Do not rewrite a struct in place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11040" y="5743042"/>
            <a:ext cx="2106778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copy boot_nv_counters.c: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11040" y="5933542"/>
            <a:ext cx="2194560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append + CRC, newest wins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68640" y="5379720"/>
            <a:ext cx="3627120" cy="85344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51520" y="5491124"/>
            <a:ext cx="2936138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12A05C"/>
                </a:solidFill>
                <a:latin typeface="Segoe UI"/>
              </a:rPr>
              <a:t>Signed data shipped by you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51520" y="5743042"/>
            <a:ext cx="228234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is a different mechanism 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51520" y="5933542"/>
            <a:ext cx="2545690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the data image (2 more slots)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7680" y="6428537"/>
            <a:ext cx="12739421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0">
                <a:solidFill>
                  <a:srgbClr val="5B6B80"/>
                </a:solidFill>
                <a:latin typeface="Segoe UI"/>
              </a:rPr>
              <a:t>Also: the primary slot spills 48 KB past the 0x80000 bank boundary — so "put the data in the other bank" needs a re-layout first.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8130845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Questions that keep coming up 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6567221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What swap really costs, and what encryption does not cost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7680" y="1280160"/>
            <a:ext cx="11216640" cy="411480"/>
          </a:xfrm>
          <a:prstGeom prst="roundRect">
            <a:avLst>
              <a:gd name="adj" fmla="val 22222"/>
            </a:avLst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5867"/>
            <a:ext cx="9806940" cy="29337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20" b="1">
                <a:solidFill>
                  <a:srgbClr val="FFFFFF"/>
                </a:solidFill>
                <a:latin typeface="Segoe UI"/>
              </a:rPr>
              <a:t>For swap, do we need two bootloaders? Do we mirror one bank into the other?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63700"/>
            <a:ext cx="9111539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1">
                <a:solidFill>
                  <a:srgbClr val="1B7CA8"/>
                </a:solidFill>
                <a:latin typeface="Segoe UI"/>
              </a:rPr>
              <a:t>No to both. One bootloader, at 0x00000, never moved and never duplicated.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69109"/>
            <a:ext cx="7274966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Two different mechanisms share the word "swap" — this is the confusing part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82469"/>
            <a:ext cx="858073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DUAL-SLOT SWAP: software exchanges the two SLOT CONTENTS. The RoT is not part of the move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95829"/>
            <a:ext cx="19213373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BANK SWAP (mirror): hardware flips the WHOLE address map — only THAT needs a second RoT, and its runtime-written state (counters, calibration) has no coherent home. It also leaves ~40 KB LESS for the 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09189"/>
            <a:ext cx="11938406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The running image is always in the primary slot, so it keeps today's link address: no relinking, no position-independent 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7680" y="3139440"/>
            <a:ext cx="1905000" cy="472440"/>
          </a:xfrm>
          <a:prstGeom prst="roundRect">
            <a:avLst>
              <a:gd name="adj" fmla="val 12903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70787" y="3220364"/>
            <a:ext cx="338785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FFFFFF"/>
                </a:solidFill>
                <a:latin typeface="Segoe UI"/>
              </a:rPr>
              <a:t>RoT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345" y="3427019"/>
            <a:ext cx="1931670" cy="17335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780" b="1">
                <a:solidFill>
                  <a:srgbClr val="3CB4E6"/>
                </a:solidFill>
                <a:latin typeface="Segoe UI"/>
              </a:rPr>
              <a:t>never moves, never copied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90800" y="3139440"/>
            <a:ext cx="4114800" cy="472440"/>
          </a:xfrm>
          <a:prstGeom prst="roundRect">
            <a:avLst>
              <a:gd name="adj" fmla="val 16129"/>
            </a:avLst>
          </a:prstGeom>
          <a:solidFill>
            <a:srgbClr val="E2F5EC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52951" y="3182264"/>
            <a:ext cx="790499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PRIMARY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4773" y="3403702"/>
            <a:ext cx="1806854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2A05C"/>
                </a:solidFill>
                <a:latin typeface="Segoe UI"/>
              </a:rPr>
              <a:t>the image that runs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20000" y="3139440"/>
            <a:ext cx="4084320" cy="472440"/>
          </a:xfrm>
          <a:prstGeom prst="roundRect">
            <a:avLst>
              <a:gd name="adj" fmla="val 16129"/>
            </a:avLst>
          </a:prstGeom>
          <a:pattFill prst="ltUpDiag">
            <a:fgClr>
              <a:srgbClr val="C6D0DB"/>
            </a:fgClr>
            <a:bgClr>
              <a:srgbClr val="EFF3F7"/>
            </a:bgClr>
          </a:pattFill>
          <a:ln w="18288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53982" y="3182264"/>
            <a:ext cx="1016356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SECONDARY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06282" y="3403702"/>
            <a:ext cx="1711757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5B6B80"/>
                </a:solidFill>
                <a:latin typeface="Segoe UI"/>
              </a:rPr>
              <a:t>the previous image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781800" y="3307080"/>
            <a:ext cx="746760" cy="0"/>
          </a:xfrm>
          <a:prstGeom prst="line">
            <a:avLst/>
          </a:prstGeom>
          <a:ln w="22860">
            <a:solidFill>
              <a:srgbClr val="6B5B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6781800" y="3459480"/>
            <a:ext cx="746760" cy="0"/>
          </a:xfrm>
          <a:prstGeom prst="line">
            <a:avLst/>
          </a:prstGeom>
          <a:ln w="22860">
            <a:solidFill>
              <a:srgbClr val="6B5B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06922" y="3655162"/>
            <a:ext cx="1711757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6B5BD2"/>
                </a:solidFill>
                <a:latin typeface="Segoe UI"/>
              </a:rPr>
              <a:t>contents exchanged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7680" y="4145280"/>
            <a:ext cx="11216640" cy="411480"/>
          </a:xfrm>
          <a:prstGeom prst="roundRect">
            <a:avLst>
              <a:gd name="adj" fmla="val 22222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240987"/>
            <a:ext cx="5491886" cy="29337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20" b="1">
                <a:solidFill>
                  <a:srgbClr val="FFFFFF"/>
                </a:solidFill>
                <a:latin typeface="Segoe UI"/>
              </a:rPr>
              <a:t>Does encryption slow the application down?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728820"/>
            <a:ext cx="10110064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1">
                <a:solidFill>
                  <a:srgbClr val="12A05C"/>
                </a:solidFill>
                <a:latin typeface="Segoe UI"/>
              </a:rPr>
              <a:t>No. Zero runtime cost — the application executes plaintext from the primary slot.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034229"/>
            <a:ext cx="1399032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Before jumping, the RoT DISABLES AND RESETS the crypto clocks (RNG, SAES, HASH, PKA, CCB) — no crypto hardware is even running while your code does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247589"/>
            <a:ext cx="9793224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Decryption happens once, at install time, and is bounded by flash programming speed rather than by AES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460949"/>
            <a:ext cx="11192256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Boot time is driven by hashing the image and by ECDSA — which is exactly what the hash-reference cache exists to skip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674309"/>
            <a:ext cx="1025956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A runtime cost would appear only if you executed in place from encrypted EXTERNAL flash — not the case here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7680" y="6263640"/>
            <a:ext cx="11216640" cy="411480"/>
          </a:xfrm>
          <a:prstGeom prst="roundRect">
            <a:avLst>
              <a:gd name="adj" fmla="val 22222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3940" y="6374892"/>
            <a:ext cx="10104120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Encryption costs install time and a key to protect. It costs the application nothing.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10389413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Open questions — for us, not for the datasheet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10599725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None of these are answered by the silicon or by the example. Each needs an owner and a date.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7680" y="1356360"/>
            <a:ext cx="3596640" cy="426720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18288">
            <a:solidFill>
              <a:srgbClr val="1B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87680" y="1356360"/>
            <a:ext cx="3596640" cy="426720"/>
          </a:xfrm>
          <a:prstGeom prst="roundRect">
            <a:avLst>
              <a:gd name="adj" fmla="val 28571"/>
            </a:avLst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80" y="1615440"/>
            <a:ext cx="3596640" cy="167640"/>
          </a:xfrm>
          <a:prstGeom prst="rect">
            <a:avLst/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6716" y="1483004"/>
            <a:ext cx="2258568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FFFFFF"/>
                </a:solidFill>
                <a:latin typeface="Segoe UI"/>
              </a:rPr>
              <a:t>INTEGRATION &amp; EFFORT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840" y="2026920"/>
            <a:ext cx="60960" cy="457200"/>
          </a:xfrm>
          <a:prstGeom prst="roundRect">
            <a:avLst>
              <a:gd name="adj" fmla="val 50000"/>
            </a:avLst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480" y="2077669"/>
            <a:ext cx="3738524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How hard is it to integrate this with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80" y="2275789"/>
            <a:ext cx="2238451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our existing FW updater?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40" y="2788920"/>
            <a:ext cx="60960" cy="457200"/>
          </a:xfrm>
          <a:prstGeom prst="roundRect">
            <a:avLst>
              <a:gd name="adj" fmla="val 50000"/>
            </a:avLst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480" y="2839669"/>
            <a:ext cx="3940607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What changes on the production line 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480" y="3037789"/>
            <a:ext cx="1865376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at end-of-line test?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840" y="3550920"/>
            <a:ext cx="60960" cy="457200"/>
          </a:xfrm>
          <a:prstGeom prst="roundRect">
            <a:avLst>
              <a:gd name="adj" fmla="val 50000"/>
            </a:avLst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480" y="3601669"/>
            <a:ext cx="3940607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How do we test updates at scale, and 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480" y="379978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CI?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840" y="4312920"/>
            <a:ext cx="60960" cy="457200"/>
          </a:xfrm>
          <a:prstGeom prst="roundRect">
            <a:avLst>
              <a:gd name="adj" fmla="val 50000"/>
            </a:avLst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480" y="4363669"/>
            <a:ext cx="3536442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Who provisions the boards, and with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480" y="4561789"/>
            <a:ext cx="1305763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which tooling?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840" y="5257800"/>
            <a:ext cx="3322320" cy="259080"/>
          </a:xfrm>
          <a:prstGeom prst="roundRect">
            <a:avLst>
              <a:gd name="adj" fmla="val 50000"/>
            </a:avLst>
          </a:prstGeom>
          <a:solidFill>
            <a:srgbClr val="E4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4829" y="5301082"/>
            <a:ext cx="228234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B7CA8"/>
                </a:solidFill>
                <a:latin typeface="Segoe UI"/>
              </a:rPr>
              <a:t>firmware · manufacturing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1356360"/>
            <a:ext cx="3596640" cy="426720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18288">
            <a:solidFill>
              <a:srgbClr val="6B5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97680" y="1356360"/>
            <a:ext cx="3596640" cy="426720"/>
          </a:xfrm>
          <a:prstGeom prst="roundRect">
            <a:avLst>
              <a:gd name="adj" fmla="val 28571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1615440"/>
            <a:ext cx="3596640" cy="167640"/>
          </a:xfrm>
          <a:prstGeom prst="rect">
            <a:avLst/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5501" y="1483004"/>
            <a:ext cx="1580998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FFFFFF"/>
                </a:solidFill>
                <a:latin typeface="Segoe UI"/>
              </a:rPr>
              <a:t>KEYS &amp; PROCESS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34840" y="2026920"/>
            <a:ext cx="60960" cy="457200"/>
          </a:xfrm>
          <a:prstGeom prst="roundRect">
            <a:avLst>
              <a:gd name="adj" fmla="val 50000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02480" y="2077669"/>
            <a:ext cx="404164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Where is the signing key stored, and who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02480" y="2275789"/>
            <a:ext cx="1958645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is allowed to use it?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34840" y="2788920"/>
            <a:ext cx="60960" cy="457200"/>
          </a:xfrm>
          <a:prstGeom prst="roundRect">
            <a:avLst>
              <a:gd name="adj" fmla="val 50000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02480" y="2839669"/>
            <a:ext cx="3839566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One key for everything, or per product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02480" y="3037789"/>
            <a:ext cx="1492301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line, per batch?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34840" y="3550920"/>
            <a:ext cx="60960" cy="457200"/>
          </a:xfrm>
          <a:prstGeom prst="roundRect">
            <a:avLst>
              <a:gd name="adj" fmla="val 50000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02480" y="3601669"/>
            <a:ext cx="404164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What is the plan if it leaks? Revocation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02480" y="3799789"/>
            <a:ext cx="233172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has to be designed in NOW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34840" y="4312920"/>
            <a:ext cx="60960" cy="457200"/>
          </a:xfrm>
          <a:prstGeom prst="roundRect">
            <a:avLst>
              <a:gd name="adj" fmla="val 50000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02480" y="4363669"/>
            <a:ext cx="3839566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Who signs a release, and what approves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02480" y="4561789"/>
            <a:ext cx="1399032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that signature?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34840" y="5257800"/>
            <a:ext cx="3322320" cy="259080"/>
          </a:xfrm>
          <a:prstGeom prst="roundRect">
            <a:avLst>
              <a:gd name="adj" fmla="val 50000"/>
            </a:avLst>
          </a:prstGeom>
          <a:solidFill>
            <a:srgbClr val="ECE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77866" y="5301082"/>
            <a:ext cx="1236269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6B5BD2"/>
                </a:solidFill>
                <a:latin typeface="Segoe UI"/>
              </a:rPr>
              <a:t>security · IT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07680" y="1356360"/>
            <a:ext cx="3596640" cy="426720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107680" y="1356360"/>
            <a:ext cx="3596640" cy="426720"/>
          </a:xfrm>
          <a:prstGeom prst="roundRect">
            <a:avLst>
              <a:gd name="adj" fmla="val 28571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107680" y="1615440"/>
            <a:ext cx="3596640" cy="167640"/>
          </a:xfrm>
          <a:prstGeom prst="rect">
            <a:avLst/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15501" y="1483004"/>
            <a:ext cx="1580998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FFFFFF"/>
                </a:solidFill>
                <a:latin typeface="Segoe UI"/>
              </a:rPr>
              <a:t>SCOPE &amp; POLICY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44840" y="2026920"/>
            <a:ext cx="60960" cy="457200"/>
          </a:xfrm>
          <a:prstGeom prst="roundRect">
            <a:avLst>
              <a:gd name="adj" fmla="val 50000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80" y="2077669"/>
            <a:ext cx="3738524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Do we harden ALL next-gen devices, 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0" y="2275789"/>
            <a:ext cx="2238451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only some product lines?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44840" y="2788920"/>
            <a:ext cx="60960" cy="457200"/>
          </a:xfrm>
          <a:prstGeom prst="roundRect">
            <a:avLst>
              <a:gd name="adj" fmla="val 50000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80" y="2839669"/>
            <a:ext cx="3536442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Which RDP level ships — and does 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0" y="3037789"/>
            <a:ext cx="3450946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still allow RMA and failure analysis?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244840" y="3550920"/>
            <a:ext cx="60960" cy="457200"/>
          </a:xfrm>
          <a:prstGeom prst="roundRect">
            <a:avLst>
              <a:gd name="adj" fmla="val 50000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12480" y="3601669"/>
            <a:ext cx="3940607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What is the recovery story for a device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80" y="3799789"/>
            <a:ext cx="2984602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that will not boot in the field?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244840" y="4312920"/>
            <a:ext cx="60960" cy="457200"/>
          </a:xfrm>
          <a:prstGeom prst="roundRect">
            <a:avLst>
              <a:gd name="adj" fmla="val 50000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12480" y="4363669"/>
            <a:ext cx="3637483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Any certification driving this (PSA,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80" y="4561789"/>
            <a:ext cx="1119226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SESIP, CRA)?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244840" y="5257800"/>
            <a:ext cx="3322320" cy="259080"/>
          </a:xfrm>
          <a:prstGeom prst="roundRect">
            <a:avLst>
              <a:gd name="adj" fmla="val 50000"/>
            </a:avLst>
          </a:prstGeom>
          <a:solidFill>
            <a:srgbClr val="E2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97670" y="5301082"/>
            <a:ext cx="1616659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2A05C"/>
                </a:solidFill>
                <a:latin typeface="Segoe UI"/>
              </a:rPr>
              <a:t>product · support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87680" y="5806440"/>
            <a:ext cx="11216640" cy="731520"/>
          </a:xfrm>
          <a:prstGeom prst="roundRect">
            <a:avLst>
              <a:gd name="adj" fmla="val 16666"/>
            </a:avLst>
          </a:prstGeom>
          <a:solidFill>
            <a:srgbClr val="FBE7E8"/>
          </a:solidFill>
          <a:ln w="18288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520" y="5932780"/>
            <a:ext cx="5866333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1">
                <a:solidFill>
                  <a:srgbClr val="D0323C"/>
                </a:solidFill>
                <a:latin typeface="Segoe UI"/>
              </a:rPr>
              <a:t>Two of these close permanently at provisioning: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6207404"/>
            <a:ext cx="13655650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0">
                <a:solidFill>
                  <a:srgbClr val="5B6B80"/>
                </a:solidFill>
                <a:latin typeface="Segoe UI"/>
              </a:rPr>
              <a:t>the key strategy and the lock-down level. Everything else can be revisited — those two cannot, because the bootloader is immutable.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